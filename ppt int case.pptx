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8" r:id="rId2"/>
    <p:sldId id="257" r:id="rId3"/>
    <p:sldId id="258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9" r:id="rId13"/>
  </p:sldIdLst>
  <p:sldSz cx="12192000" cy="6858000"/>
  <p:notesSz cx="6858000" cy="9144000"/>
  <p:embeddedFontLst>
    <p:embeddedFont>
      <p:font typeface="Montserrat SemiBold" panose="00000700000000000000" pitchFamily="2" charset="0"/>
      <p:bold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  <p:embeddedFont>
      <p:font typeface="Urbanist Medium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6689AF-C787-4E83-87ED-E228FFECFA25}">
  <a:tblStyle styleId="{AD6689AF-C787-4E83-87ED-E228FFECFA2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6:52:08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6:52:08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6:52:08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6:52:08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6T16:52:08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customXml" Target="../ink/ink1.xml"/><Relationship Id="rId17" Type="http://schemas.openxmlformats.org/officeDocument/2006/relationships/customXml" Target="../ink/ink5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customXml" Target="../ink/ink3.xml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201A-A77E-53C7-2C37-0CFFC880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274638"/>
            <a:ext cx="10766322" cy="26971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Towards Better Product Quality: Identifying Legitimate Quality Issues using NLP &amp; Machine Learning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688AF-CBAE-6C01-2805-6DB39309D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657" y="3073400"/>
            <a:ext cx="10343537" cy="2843981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spcBef>
                <a:spcPts val="2005"/>
              </a:spcBef>
              <a:buNone/>
            </a:pPr>
            <a:r>
              <a:rPr lang="en-IN" sz="7200" b="1" spc="6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Presented</a:t>
            </a:r>
            <a:r>
              <a:rPr lang="en-IN" sz="7200" b="1" spc="-265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7200" b="1" spc="9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by,</a:t>
            </a:r>
          </a:p>
          <a:p>
            <a:pPr marL="0" indent="0" algn="ctr">
              <a:spcBef>
                <a:spcPts val="2005"/>
              </a:spcBef>
              <a:buNone/>
            </a:pPr>
            <a:r>
              <a:rPr lang="en-IN" sz="7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Alen Sam</a:t>
            </a:r>
          </a:p>
          <a:p>
            <a:pPr marL="0" marR="5080" indent="0">
              <a:lnSpc>
                <a:spcPct val="120000"/>
              </a:lnSpc>
              <a:spcBef>
                <a:spcPts val="1365"/>
              </a:spcBef>
              <a:buNone/>
            </a:pPr>
            <a:r>
              <a:rPr lang="en-IN" sz="7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 	                 Sachin</a:t>
            </a:r>
            <a:r>
              <a:rPr lang="en-IN" sz="7200" b="1" spc="1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7200" b="1" spc="-2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Saji</a:t>
            </a:r>
          </a:p>
          <a:p>
            <a:pPr marL="0" marR="5080" indent="0">
              <a:lnSpc>
                <a:spcPct val="120000"/>
              </a:lnSpc>
              <a:spcBef>
                <a:spcPts val="1365"/>
              </a:spcBef>
              <a:buNone/>
            </a:pPr>
            <a:r>
              <a:rPr lang="en-IN" sz="7200" b="1" spc="-2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</a:t>
            </a:r>
            <a:r>
              <a:rPr lang="en-IN" sz="7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Sandeep Nidheesh</a:t>
            </a:r>
          </a:p>
          <a:p>
            <a:pPr marL="0" marR="5080" indent="0">
              <a:lnSpc>
                <a:spcPct val="120000"/>
              </a:lnSpc>
              <a:spcBef>
                <a:spcPts val="1365"/>
              </a:spcBef>
              <a:buNone/>
            </a:pPr>
            <a:r>
              <a:rPr lang="en-IN" sz="7200" b="1" spc="-20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</a:t>
            </a:r>
            <a:r>
              <a:rPr lang="en-IN" sz="7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Vijeesh K S</a:t>
            </a:r>
          </a:p>
          <a:p>
            <a:pPr marL="0" marR="5080" indent="0">
              <a:lnSpc>
                <a:spcPct val="120000"/>
              </a:lnSpc>
              <a:spcBef>
                <a:spcPts val="1365"/>
              </a:spcBef>
              <a:buNone/>
            </a:pPr>
            <a:endParaRPr lang="en-IN" b="1" spc="-20" dirty="0">
              <a:solidFill>
                <a:schemeClr val="bg2">
                  <a:lumMod val="60000"/>
                  <a:lumOff val="40000"/>
                </a:schemeClr>
              </a:solidFill>
              <a:latin typeface="Trebuchet MS"/>
              <a:cs typeface="Trebuchet MS"/>
            </a:endParaRPr>
          </a:p>
          <a:p>
            <a:pPr marL="0" marR="5080" indent="0">
              <a:lnSpc>
                <a:spcPct val="120000"/>
              </a:lnSpc>
              <a:spcBef>
                <a:spcPts val="1365"/>
              </a:spcBef>
              <a:buNone/>
            </a:pPr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  <a:latin typeface="Trebuchet MS"/>
                <a:cs typeface="Trebuchet MS"/>
              </a:rPr>
              <a:t>		    		</a:t>
            </a:r>
          </a:p>
          <a:p>
            <a:pPr marL="114300" indent="0">
              <a:lnSpc>
                <a:spcPct val="120000"/>
              </a:lnSpc>
              <a:buNone/>
            </a:pPr>
            <a:r>
              <a:rPr lang="en-IN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                                 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20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86475" y="1370965"/>
            <a:ext cx="5629275" cy="4056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476250" y="381000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Input Parameters &amp;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Source</a:t>
            </a:r>
            <a:endParaRPr dirty="0"/>
          </a:p>
        </p:txBody>
      </p:sp>
      <p:sp>
        <p:nvSpPr>
          <p:cNvPr id="100" name="Google Shape;100;p14"/>
          <p:cNvSpPr/>
          <p:nvPr/>
        </p:nvSpPr>
        <p:spPr>
          <a:xfrm>
            <a:off x="476250" y="107439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76250" y="5063876"/>
            <a:ext cx="5038725" cy="742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" y="5254376"/>
            <a:ext cx="465772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Data Balance: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The dataset is balanced (approx 50/50), allowing for robust training without heavy oversampling.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76250" y="5063876"/>
            <a:ext cx="47625" cy="742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310789" y="1764326"/>
            <a:ext cx="529066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Processing Logic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6296025" y="2321154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Cleaning: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Removal of Punctuation, Brackets, &amp; Numbers.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6296024" y="3252555"/>
            <a:ext cx="5038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Vectorization: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TF-IDF (Term Frequency-Inverse Document Frequency) with top 5,000 features.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799465" y="1549911"/>
            <a:ext cx="7747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857250" y="1449829"/>
            <a:ext cx="465772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1,000 rows of historical service logs </a:t>
            </a:r>
            <a:endParaRPr lang="en-US" sz="1650" dirty="0">
              <a:solidFill>
                <a:srgbClr val="D4D4D4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650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Kaggle.com, Consumercomplaints.com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761365" y="2433890"/>
            <a:ext cx="5778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2321154"/>
            <a:ext cx="4657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Input Feature: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Unstructured raw text from customer complaints.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779462" y="3277237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857250" y="3146338"/>
            <a:ext cx="4657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Target Label: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Binary classification.</a:t>
            </a:r>
            <a:endParaRPr dirty="0"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8078" y="1800641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98537" y="360738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1047749" y="3504735"/>
            <a:ext cx="42767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 (Positive):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QUALITY_ISSUE (Machine Fault)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998537" y="396457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1060449" y="3912098"/>
            <a:ext cx="42767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6B6B"/>
                </a:solidFill>
                <a:latin typeface="Urbanist"/>
                <a:ea typeface="Urbanist"/>
                <a:cs typeface="Urbanist"/>
                <a:sym typeface="Urbanist"/>
              </a:rPr>
              <a:t>0 (Negative):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NON_QUALITY_ISSUE (User Error)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325463"/>
            <a:ext cx="3555950" cy="228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1325463"/>
            <a:ext cx="3555950" cy="228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1325463"/>
            <a:ext cx="3556099" cy="2287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3898701"/>
            <a:ext cx="3555950" cy="262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17950" y="3898701"/>
            <a:ext cx="3555950" cy="2622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59650" y="3898701"/>
            <a:ext cx="3556099" cy="26226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476250" y="336798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Algorithm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Flowchart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476250" y="1030188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771525" y="1620738"/>
            <a:ext cx="311367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1. Ingestion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71525" y="2102643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Load CSV Data. Perform stratified split (80% Train / 20% Test) to maintain class ratios.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613225" y="1620738"/>
            <a:ext cx="311367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2. NLP Pipeline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613225" y="2102643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Regex Cleaning → Lowercasing → TF-IDF Vectorization (1-2 n-grams).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454925" y="1620738"/>
            <a:ext cx="3113826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3. Training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454925" y="2102643"/>
            <a:ext cx="29655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Train multiple classifiers: Logistic Regression, Naive Bayes, Random Forest, SVM.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71525" y="4193976"/>
            <a:ext cx="311367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4. Optimization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71525" y="4675882"/>
            <a:ext cx="29654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GridSearchCV for Hyperparameter tuning (Kernel, C-value, Gamma) on the best model.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4613225" y="4193976"/>
            <a:ext cx="3113670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5. Validation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613225" y="4675882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5-Fold Cross-Validation to ensure model stability and prevent overfitting.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454925" y="4193976"/>
            <a:ext cx="3113826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6. Deployment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454925" y="4675882"/>
            <a:ext cx="296554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Serialize model via Joblib and serve through a Streamlit interface.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1;p16" descr="image.png">
            <a:extLst>
              <a:ext uri="{FF2B5EF4-FFF2-40B4-BE49-F238E27FC236}">
                <a16:creationId xmlns:a16="http://schemas.microsoft.com/office/drawing/2014/main" id="{8F1EF52A-AA84-C979-542D-117EB32CD5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81475"/>
            <a:ext cx="110490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2;p16" descr="image.png">
            <a:extLst>
              <a:ext uri="{FF2B5EF4-FFF2-40B4-BE49-F238E27FC236}">
                <a16:creationId xmlns:a16="http://schemas.microsoft.com/office/drawing/2014/main" id="{E4F13E88-C72B-B0EF-77DE-3A78FC3D45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66875"/>
            <a:ext cx="2430660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3;p16" descr="image.png">
            <a:extLst>
              <a:ext uri="{FF2B5EF4-FFF2-40B4-BE49-F238E27FC236}">
                <a16:creationId xmlns:a16="http://schemas.microsoft.com/office/drawing/2014/main" id="{C084820D-ADC3-3472-33F3-C261BD9FA6D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1666875"/>
            <a:ext cx="2430660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4;p16" descr="image.png">
            <a:extLst>
              <a:ext uri="{FF2B5EF4-FFF2-40B4-BE49-F238E27FC236}">
                <a16:creationId xmlns:a16="http://schemas.microsoft.com/office/drawing/2014/main" id="{04FCFA71-52FF-C42D-4C41-70110E3869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6860" y="1666875"/>
            <a:ext cx="2430660" cy="20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5;p16" descr="image.png">
            <a:extLst>
              <a:ext uri="{FF2B5EF4-FFF2-40B4-BE49-F238E27FC236}">
                <a16:creationId xmlns:a16="http://schemas.microsoft.com/office/drawing/2014/main" id="{E573971D-8587-7A6A-893C-29E900C3EDB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89541" y="1666875"/>
            <a:ext cx="2430660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6;p16">
            <a:extLst>
              <a:ext uri="{FF2B5EF4-FFF2-40B4-BE49-F238E27FC236}">
                <a16:creationId xmlns:a16="http://schemas.microsoft.com/office/drawing/2014/main" id="{DA9F36A8-25AD-BE94-FEB2-CDB94B83ECCD}"/>
              </a:ext>
            </a:extLst>
          </p:cNvPr>
          <p:cNvSpPr txBox="1"/>
          <p:nvPr/>
        </p:nvSpPr>
        <p:spPr>
          <a:xfrm>
            <a:off x="571500" y="3810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chemeClr val="bg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Simulation Flowchart: </a:t>
            </a:r>
            <a:r>
              <a:rPr lang="en-US" sz="3150" b="0" i="0" u="none" strike="noStrike" cap="none" dirty="0">
                <a:solidFill>
                  <a:srgbClr val="FFFF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to Deployment</a:t>
            </a:r>
            <a:endParaRPr dirty="0">
              <a:solidFill>
                <a:srgbClr val="FFFF00"/>
              </a:solidFill>
            </a:endParaRPr>
          </a:p>
        </p:txBody>
      </p:sp>
      <p:sp>
        <p:nvSpPr>
          <p:cNvPr id="8" name="Google Shape;137;p16">
            <a:extLst>
              <a:ext uri="{FF2B5EF4-FFF2-40B4-BE49-F238E27FC236}">
                <a16:creationId xmlns:a16="http://schemas.microsoft.com/office/drawing/2014/main" id="{D3CE5724-E2E2-A332-3D3F-970EA9489A3E}"/>
              </a:ext>
            </a:extLst>
          </p:cNvPr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38;p16">
            <a:extLst>
              <a:ext uri="{FF2B5EF4-FFF2-40B4-BE49-F238E27FC236}">
                <a16:creationId xmlns:a16="http://schemas.microsoft.com/office/drawing/2014/main" id="{A92BC018-4790-A39D-C1E0-E38E141977F0}"/>
              </a:ext>
            </a:extLst>
          </p:cNvPr>
          <p:cNvSpPr txBox="1"/>
          <p:nvPr/>
        </p:nvSpPr>
        <p:spPr>
          <a:xfrm>
            <a:off x="11430000" y="651510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Slide 4</a:t>
            </a:r>
            <a:endParaRPr/>
          </a:p>
        </p:txBody>
      </p:sp>
      <p:sp>
        <p:nvSpPr>
          <p:cNvPr id="10" name="Google Shape;139;p16">
            <a:extLst>
              <a:ext uri="{FF2B5EF4-FFF2-40B4-BE49-F238E27FC236}">
                <a16:creationId xmlns:a16="http://schemas.microsoft.com/office/drawing/2014/main" id="{4700DEFE-3D2B-74FE-59FA-29683C7D6198}"/>
              </a:ext>
            </a:extLst>
          </p:cNvPr>
          <p:cNvSpPr txBox="1"/>
          <p:nvPr/>
        </p:nvSpPr>
        <p:spPr>
          <a:xfrm>
            <a:off x="714375" y="4324350"/>
            <a:ext cx="10763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Logic Check:</a:t>
            </a:r>
            <a:r>
              <a:rPr lang="en-US" sz="13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If Model Confidence &lt; 60% → Flag for Manual Review. Else → Automate Routing.</a:t>
            </a:r>
            <a:endParaRPr/>
          </a:p>
        </p:txBody>
      </p:sp>
      <p:pic>
        <p:nvPicPr>
          <p:cNvPr id="11" name="Google Shape;140;p16" descr="image.png">
            <a:extLst>
              <a:ext uri="{FF2B5EF4-FFF2-40B4-BE49-F238E27FC236}">
                <a16:creationId xmlns:a16="http://schemas.microsoft.com/office/drawing/2014/main" id="{7113EC6B-6924-145E-666B-FCB9BE6104E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34430" y="18764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41;p16">
            <a:extLst>
              <a:ext uri="{FF2B5EF4-FFF2-40B4-BE49-F238E27FC236}">
                <a16:creationId xmlns:a16="http://schemas.microsoft.com/office/drawing/2014/main" id="{EFC81EA5-5B4E-719F-6B3E-762CD431066B}"/>
              </a:ext>
            </a:extLst>
          </p:cNvPr>
          <p:cNvSpPr txBox="1"/>
          <p:nvPr/>
        </p:nvSpPr>
        <p:spPr>
          <a:xfrm>
            <a:off x="730760" y="2324100"/>
            <a:ext cx="21121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56B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Ingestion</a:t>
            </a:r>
            <a:endParaRPr/>
          </a:p>
        </p:txBody>
      </p:sp>
      <p:sp>
        <p:nvSpPr>
          <p:cNvPr id="13" name="Google Shape;142;p16">
            <a:extLst>
              <a:ext uri="{FF2B5EF4-FFF2-40B4-BE49-F238E27FC236}">
                <a16:creationId xmlns:a16="http://schemas.microsoft.com/office/drawing/2014/main" id="{8B3C30B1-758C-06DB-2D63-30AB5D04A142}"/>
              </a:ext>
            </a:extLst>
          </p:cNvPr>
          <p:cNvSpPr txBox="1"/>
          <p:nvPr/>
        </p:nvSpPr>
        <p:spPr>
          <a:xfrm>
            <a:off x="781050" y="2762250"/>
            <a:ext cx="201156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Load CSV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Regex Cleaning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80/20 Stratified Split</a:t>
            </a:r>
            <a:endParaRPr/>
          </a:p>
        </p:txBody>
      </p:sp>
      <p:pic>
        <p:nvPicPr>
          <p:cNvPr id="14" name="Google Shape;143;p16" descr="image.png">
            <a:extLst>
              <a:ext uri="{FF2B5EF4-FFF2-40B4-BE49-F238E27FC236}">
                <a16:creationId xmlns:a16="http://schemas.microsoft.com/office/drawing/2014/main" id="{F9648668-B8CB-B407-320F-2F3827DA914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23158" y="25622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44;p16" descr="image.png">
            <a:extLst>
              <a:ext uri="{FF2B5EF4-FFF2-40B4-BE49-F238E27FC236}">
                <a16:creationId xmlns:a16="http://schemas.microsoft.com/office/drawing/2014/main" id="{02B226BD-7AD0-91C6-FC86-DA91A866057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69010" y="18764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45;p16">
            <a:extLst>
              <a:ext uri="{FF2B5EF4-FFF2-40B4-BE49-F238E27FC236}">
                <a16:creationId xmlns:a16="http://schemas.microsoft.com/office/drawing/2014/main" id="{4EE51C72-C3AE-8705-0E14-F17399A55D45}"/>
              </a:ext>
            </a:extLst>
          </p:cNvPr>
          <p:cNvSpPr txBox="1"/>
          <p:nvPr/>
        </p:nvSpPr>
        <p:spPr>
          <a:xfrm>
            <a:off x="3603441" y="2324100"/>
            <a:ext cx="21121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56B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Training</a:t>
            </a:r>
            <a:endParaRPr/>
          </a:p>
        </p:txBody>
      </p:sp>
      <p:sp>
        <p:nvSpPr>
          <p:cNvPr id="17" name="Google Shape;146;p16">
            <a:extLst>
              <a:ext uri="{FF2B5EF4-FFF2-40B4-BE49-F238E27FC236}">
                <a16:creationId xmlns:a16="http://schemas.microsoft.com/office/drawing/2014/main" id="{94125F10-D715-49C4-CBF9-C2BDD453C1D0}"/>
              </a:ext>
            </a:extLst>
          </p:cNvPr>
          <p:cNvSpPr txBox="1"/>
          <p:nvPr/>
        </p:nvSpPr>
        <p:spPr>
          <a:xfrm>
            <a:off x="3653730" y="2762250"/>
            <a:ext cx="201156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Fit TF-IDF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Train SVM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Cross-Validation</a:t>
            </a:r>
            <a:endParaRPr/>
          </a:p>
        </p:txBody>
      </p:sp>
      <p:pic>
        <p:nvPicPr>
          <p:cNvPr id="18" name="Google Shape;147;p16" descr="image.png">
            <a:extLst>
              <a:ext uri="{FF2B5EF4-FFF2-40B4-BE49-F238E27FC236}">
                <a16:creationId xmlns:a16="http://schemas.microsoft.com/office/drawing/2014/main" id="{72CB535C-B6D9-2CFD-A1C6-127292BAC2E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95838" y="25622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48;p16" descr="image.png">
            <a:extLst>
              <a:ext uri="{FF2B5EF4-FFF2-40B4-BE49-F238E27FC236}">
                <a16:creationId xmlns:a16="http://schemas.microsoft.com/office/drawing/2014/main" id="{1F240775-FEBD-ADEA-355E-464CC4942DC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17891" y="1876425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49;p16">
            <a:extLst>
              <a:ext uri="{FF2B5EF4-FFF2-40B4-BE49-F238E27FC236}">
                <a16:creationId xmlns:a16="http://schemas.microsoft.com/office/drawing/2014/main" id="{87F77098-C933-1BF7-2D79-47C825FF75C6}"/>
              </a:ext>
            </a:extLst>
          </p:cNvPr>
          <p:cNvSpPr txBox="1"/>
          <p:nvPr/>
        </p:nvSpPr>
        <p:spPr>
          <a:xfrm>
            <a:off x="6476121" y="2324100"/>
            <a:ext cx="21121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56B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Evaluation</a:t>
            </a:r>
            <a:endParaRPr/>
          </a:p>
        </p:txBody>
      </p:sp>
      <p:sp>
        <p:nvSpPr>
          <p:cNvPr id="21" name="Google Shape;150;p16">
            <a:extLst>
              <a:ext uri="{FF2B5EF4-FFF2-40B4-BE49-F238E27FC236}">
                <a16:creationId xmlns:a16="http://schemas.microsoft.com/office/drawing/2014/main" id="{A482693D-6342-02FE-B1F7-C98FDDF659D3}"/>
              </a:ext>
            </a:extLst>
          </p:cNvPr>
          <p:cNvSpPr txBox="1"/>
          <p:nvPr/>
        </p:nvSpPr>
        <p:spPr>
          <a:xfrm>
            <a:off x="6526410" y="2762250"/>
            <a:ext cx="201156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F1-Score Check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Confusion Matrix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Precision Analysis</a:t>
            </a:r>
            <a:endParaRPr/>
          </a:p>
        </p:txBody>
      </p:sp>
      <p:pic>
        <p:nvPicPr>
          <p:cNvPr id="22" name="Google Shape;151;p16" descr="image.png">
            <a:extLst>
              <a:ext uri="{FF2B5EF4-FFF2-40B4-BE49-F238E27FC236}">
                <a16:creationId xmlns:a16="http://schemas.microsoft.com/office/drawing/2014/main" id="{421AD3A5-5F1C-9090-D2A6-647F530D8B8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68519" y="25622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52;p16" descr="image.png">
            <a:extLst>
              <a:ext uri="{FF2B5EF4-FFF2-40B4-BE49-F238E27FC236}">
                <a16:creationId xmlns:a16="http://schemas.microsoft.com/office/drawing/2014/main" id="{96C15098-CD27-2D4D-B826-99FF2879DB9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14371" y="18764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53;p16">
            <a:extLst>
              <a:ext uri="{FF2B5EF4-FFF2-40B4-BE49-F238E27FC236}">
                <a16:creationId xmlns:a16="http://schemas.microsoft.com/office/drawing/2014/main" id="{A2C3635B-C07C-7596-7532-48AD8E66ECF5}"/>
              </a:ext>
            </a:extLst>
          </p:cNvPr>
          <p:cNvSpPr txBox="1"/>
          <p:nvPr/>
        </p:nvSpPr>
        <p:spPr>
          <a:xfrm>
            <a:off x="9348802" y="2324100"/>
            <a:ext cx="211213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056B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Deployment</a:t>
            </a:r>
            <a:endParaRPr/>
          </a:p>
        </p:txBody>
      </p:sp>
      <p:sp>
        <p:nvSpPr>
          <p:cNvPr id="25" name="Google Shape;154;p16">
            <a:extLst>
              <a:ext uri="{FF2B5EF4-FFF2-40B4-BE49-F238E27FC236}">
                <a16:creationId xmlns:a16="http://schemas.microsoft.com/office/drawing/2014/main" id="{4D730C41-E7B1-B97E-6FF8-43724F6C8922}"/>
              </a:ext>
            </a:extLst>
          </p:cNvPr>
          <p:cNvSpPr txBox="1"/>
          <p:nvPr/>
        </p:nvSpPr>
        <p:spPr>
          <a:xfrm>
            <a:off x="9399091" y="2762250"/>
            <a:ext cx="201156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Save .pkl Model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Load in Streamlit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User Interface</a:t>
            </a:r>
            <a:endParaRPr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9636340-3DDC-51A8-1D71-95F5B34FD363}"/>
              </a:ext>
            </a:extLst>
          </p:cNvPr>
          <p:cNvGrpSpPr/>
          <p:nvPr/>
        </p:nvGrpSpPr>
        <p:grpSpPr>
          <a:xfrm>
            <a:off x="821187" y="5732027"/>
            <a:ext cx="360" cy="360"/>
            <a:chOff x="821187" y="5732027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83CB25-020F-B0FF-8EC3-B766F9EEB415}"/>
                    </a:ext>
                  </a:extLst>
                </p14:cNvPr>
                <p14:cNvContentPartPr/>
                <p14:nvPr/>
              </p14:nvContentPartPr>
              <p14:xfrm>
                <a:off x="821187" y="5732027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83CB25-020F-B0FF-8EC3-B766F9EEB4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5067" y="57259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18043F-D6C8-12C1-490B-07AE0149FCAE}"/>
                    </a:ext>
                  </a:extLst>
                </p14:cNvPr>
                <p14:cNvContentPartPr/>
                <p14:nvPr/>
              </p14:nvContentPartPr>
              <p14:xfrm>
                <a:off x="821187" y="5732027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18043F-D6C8-12C1-490B-07AE0149FC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5067" y="57259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337F78D-374B-831D-EA35-EFB49004D8A3}"/>
                  </a:ext>
                </a:extLst>
              </p14:cNvPr>
              <p14:cNvContentPartPr/>
              <p14:nvPr/>
            </p14:nvContentPartPr>
            <p14:xfrm>
              <a:off x="4800267" y="2014667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337F78D-374B-831D-EA35-EFB49004D8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94147" y="200854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D229C4F-E755-EE05-6E50-C513CE9D99F5}"/>
                  </a:ext>
                </a:extLst>
              </p14:cNvPr>
              <p14:cNvContentPartPr/>
              <p14:nvPr/>
            </p14:nvContentPartPr>
            <p14:xfrm>
              <a:off x="4732587" y="2666627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D229C4F-E755-EE05-6E50-C513CE9D99F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26467" y="266050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7A1DDE0-EEFC-0CA8-EA8D-B0FB6BEB131D}"/>
                  </a:ext>
                </a:extLst>
              </p14:cNvPr>
              <p14:cNvContentPartPr/>
              <p14:nvPr/>
            </p14:nvContentPartPr>
            <p14:xfrm>
              <a:off x="4825827" y="2887307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7A1DDE0-EEFC-0CA8-EA8D-B0FB6BEB13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19707" y="2881187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476250" y="381000"/>
            <a:ext cx="117157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Model Comparison</a:t>
            </a:r>
            <a:endParaRPr dirty="0"/>
          </a:p>
        </p:txBody>
      </p:sp>
      <p:sp>
        <p:nvSpPr>
          <p:cNvPr id="149" name="Google Shape;149;p16"/>
          <p:cNvSpPr/>
          <p:nvPr/>
        </p:nvSpPr>
        <p:spPr>
          <a:xfrm>
            <a:off x="476250" y="107439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476250" y="1801564"/>
            <a:ext cx="11239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Comparison of 5 algorithms on the test set (n=200). </a:t>
            </a:r>
            <a:r>
              <a:rPr lang="en-US" sz="16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SVM</a:t>
            </a: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was selected as the winner.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476250" y="3083421"/>
            <a:ext cx="3768476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244726" y="3083421"/>
            <a:ext cx="144765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692378" y="3083421"/>
            <a:ext cx="134823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040612" y="3083421"/>
            <a:ext cx="217705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9217669" y="3083421"/>
            <a:ext cx="249808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476250" y="3728144"/>
            <a:ext cx="37684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4244726" y="3728144"/>
            <a:ext cx="14476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692378" y="3728144"/>
            <a:ext cx="134823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7040612" y="3728144"/>
            <a:ext cx="21770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9217669" y="3728144"/>
            <a:ext cx="249808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476250" y="4358580"/>
            <a:ext cx="37684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4244726" y="4358580"/>
            <a:ext cx="14476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692378" y="4358580"/>
            <a:ext cx="134823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7040612" y="4358580"/>
            <a:ext cx="21770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9217669" y="4358580"/>
            <a:ext cx="249808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476250" y="4989016"/>
            <a:ext cx="37684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4244726" y="4989016"/>
            <a:ext cx="14476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5692378" y="4989016"/>
            <a:ext cx="134823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7040612" y="4989016"/>
            <a:ext cx="21770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9217669" y="4989016"/>
            <a:ext cx="249808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476250" y="5619452"/>
            <a:ext cx="37684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4244726" y="5619452"/>
            <a:ext cx="144765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5692378" y="5619452"/>
            <a:ext cx="134823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7040612" y="5619452"/>
            <a:ext cx="21770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9217669" y="5619452"/>
            <a:ext cx="249808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6BDF69B6-97F8-74B2-5795-212FFFE69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407286"/>
            <a:ext cx="11431270" cy="39535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16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2018258"/>
            <a:ext cx="53435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476250" y="381000"/>
            <a:ext cx="117157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Output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Confusion Matrix</a:t>
            </a:r>
            <a:endParaRPr dirty="0"/>
          </a:p>
        </p:txBody>
      </p:sp>
      <p:sp>
        <p:nvSpPr>
          <p:cNvPr id="184" name="Google Shape;184;p17"/>
          <p:cNvSpPr/>
          <p:nvPr/>
        </p:nvSpPr>
        <p:spPr>
          <a:xfrm>
            <a:off x="476250" y="107439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622301" y="1324222"/>
            <a:ext cx="5590698" cy="27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Zero False Positives</a:t>
            </a:r>
            <a:endParaRPr sz="1650" dirty="0"/>
          </a:p>
        </p:txBody>
      </p:sp>
      <p:sp>
        <p:nvSpPr>
          <p:cNvPr id="186" name="Google Shape;186;p17"/>
          <p:cNvSpPr txBox="1"/>
          <p:nvPr/>
        </p:nvSpPr>
        <p:spPr>
          <a:xfrm>
            <a:off x="622301" y="1220531"/>
            <a:ext cx="7271384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           :The Confusion Matrix reveals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model's precision.</a:t>
            </a:r>
            <a:endParaRPr dirty="0"/>
          </a:p>
        </p:txBody>
      </p:sp>
      <p:pic>
        <p:nvPicPr>
          <p:cNvPr id="187" name="Google Shape;187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938267" y="2148482"/>
            <a:ext cx="4211440" cy="354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521970" y="2148482"/>
            <a:ext cx="4571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189" name="Google Shape;189;p17"/>
          <p:cNvSpPr txBox="1"/>
          <p:nvPr/>
        </p:nvSpPr>
        <p:spPr>
          <a:xfrm>
            <a:off x="622301" y="2062959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True Negatives (101):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Correctly identified all User Errors.</a:t>
            </a:r>
            <a:endParaRPr dirty="0"/>
          </a:p>
        </p:txBody>
      </p:sp>
      <p:sp>
        <p:nvSpPr>
          <p:cNvPr id="190" name="Google Shape;190;p17"/>
          <p:cNvSpPr txBox="1"/>
          <p:nvPr/>
        </p:nvSpPr>
        <p:spPr>
          <a:xfrm flipH="1">
            <a:off x="516888" y="2972742"/>
            <a:ext cx="4571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191" name="Google Shape;191;p17"/>
          <p:cNvSpPr txBox="1"/>
          <p:nvPr/>
        </p:nvSpPr>
        <p:spPr>
          <a:xfrm>
            <a:off x="622301" y="2884759"/>
            <a:ext cx="494347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True</a:t>
            </a: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Positives (96):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Critical Win.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model never flagged a user error as a machine fault, saving unnecessary technician deployments.</a:t>
            </a:r>
            <a:endParaRPr dirty="0"/>
          </a:p>
        </p:txBody>
      </p:sp>
      <p:sp>
        <p:nvSpPr>
          <p:cNvPr id="192" name="Google Shape;192;p17"/>
          <p:cNvSpPr txBox="1"/>
          <p:nvPr/>
        </p:nvSpPr>
        <p:spPr>
          <a:xfrm>
            <a:off x="539747" y="4249325"/>
            <a:ext cx="4571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  <p:sp>
        <p:nvSpPr>
          <p:cNvPr id="193" name="Google Shape;193;p17"/>
          <p:cNvSpPr txBox="1"/>
          <p:nvPr/>
        </p:nvSpPr>
        <p:spPr>
          <a:xfrm>
            <a:off x="622301" y="4124721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False Negatives (3):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Only 3 genuine faults were missed.</a:t>
            </a:r>
            <a:endParaRPr dirty="0"/>
          </a:p>
        </p:txBody>
      </p:sp>
      <p:sp>
        <p:nvSpPr>
          <p:cNvPr id="2" name="Google Shape;190;p17">
            <a:extLst>
              <a:ext uri="{FF2B5EF4-FFF2-40B4-BE49-F238E27FC236}">
                <a16:creationId xmlns:a16="http://schemas.microsoft.com/office/drawing/2014/main" id="{7EA05272-605D-94BA-2343-7B53A5798430}"/>
              </a:ext>
            </a:extLst>
          </p:cNvPr>
          <p:cNvSpPr txBox="1"/>
          <p:nvPr/>
        </p:nvSpPr>
        <p:spPr>
          <a:xfrm flipH="1">
            <a:off x="476250" y="1324222"/>
            <a:ext cx="4572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018258"/>
            <a:ext cx="53435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332" y="2864086"/>
            <a:ext cx="5324475" cy="31061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476250" y="381000"/>
            <a:ext cx="117157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Output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Learning Curve</a:t>
            </a:r>
            <a:endParaRPr dirty="0"/>
          </a:p>
        </p:txBody>
      </p:sp>
      <p:sp>
        <p:nvSpPr>
          <p:cNvPr id="202" name="Google Shape;202;p18"/>
          <p:cNvSpPr/>
          <p:nvPr/>
        </p:nvSpPr>
        <p:spPr>
          <a:xfrm>
            <a:off x="476250" y="107439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18"/>
          <p:cNvPicPr preferRelativeResize="0"/>
          <p:nvPr/>
        </p:nvPicPr>
        <p:blipFill>
          <a:blip r:embed="rId6">
            <a:alphaModFix/>
          </a:blip>
          <a:srcRect/>
          <a:stretch/>
        </p:blipFill>
        <p:spPr>
          <a:xfrm>
            <a:off x="485775" y="1633855"/>
            <a:ext cx="5324475" cy="3875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 txBox="1"/>
          <p:nvPr/>
        </p:nvSpPr>
        <p:spPr>
          <a:xfrm>
            <a:off x="6391275" y="1659544"/>
            <a:ext cx="5590698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Bias-Variance Tradeoff</a:t>
            </a:r>
            <a:endParaRPr dirty="0"/>
          </a:p>
        </p:txBody>
      </p:sp>
      <p:sp>
        <p:nvSpPr>
          <p:cNvPr id="205" name="Google Shape;205;p18"/>
          <p:cNvSpPr txBox="1"/>
          <p:nvPr/>
        </p:nvSpPr>
        <p:spPr>
          <a:xfrm>
            <a:off x="6372227" y="1855550"/>
            <a:ext cx="532447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Learning Curve demonstrates the model’s    robustness.</a:t>
            </a:r>
            <a:endParaRPr dirty="0"/>
          </a:p>
        </p:txBody>
      </p:sp>
      <p:sp>
        <p:nvSpPr>
          <p:cNvPr id="206" name="Google Shape;206;p18"/>
          <p:cNvSpPr txBox="1"/>
          <p:nvPr/>
        </p:nvSpPr>
        <p:spPr>
          <a:xfrm>
            <a:off x="6510644" y="2936974"/>
            <a:ext cx="4895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Convergence: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Training Score (Red) and Cross-Validation Score (Green) converge at a high value (~0.98).</a:t>
            </a:r>
            <a:endParaRPr dirty="0"/>
          </a:p>
        </p:txBody>
      </p:sp>
      <p:sp>
        <p:nvSpPr>
          <p:cNvPr id="207" name="Google Shape;207;p18"/>
          <p:cNvSpPr txBox="1"/>
          <p:nvPr/>
        </p:nvSpPr>
        <p:spPr>
          <a:xfrm>
            <a:off x="6586539" y="4260299"/>
            <a:ext cx="4895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Interpretation: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small gap between the lines indicates </a:t>
            </a: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low variance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(no overfitting). The high score indicates </a:t>
            </a: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low bias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(no underfitting).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0725" y="1966145"/>
            <a:ext cx="5915025" cy="38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476250" y="381000"/>
            <a:ext cx="117157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Output</a:t>
            </a: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ROC &amp; Precision-Recall</a:t>
            </a:r>
            <a:endParaRPr dirty="0"/>
          </a:p>
        </p:txBody>
      </p:sp>
      <p:sp>
        <p:nvSpPr>
          <p:cNvPr id="215" name="Google Shape;215;p19"/>
          <p:cNvSpPr/>
          <p:nvPr/>
        </p:nvSpPr>
        <p:spPr>
          <a:xfrm>
            <a:off x="476250" y="107439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476250" y="1665364"/>
            <a:ext cx="5590698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Discriminative Power</a:t>
            </a:r>
            <a:endParaRPr dirty="0"/>
          </a:p>
        </p:txBody>
      </p:sp>
      <p:sp>
        <p:nvSpPr>
          <p:cNvPr id="217" name="Google Shape;217;p19"/>
          <p:cNvSpPr txBox="1"/>
          <p:nvPr/>
        </p:nvSpPr>
        <p:spPr>
          <a:xfrm>
            <a:off x="476249" y="1988258"/>
            <a:ext cx="532447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ROC  = 0.99: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Area Under the Curve is near perfect (1.0), meaning the model has excellent separability between Quality and Non-Quality issues.</a:t>
            </a:r>
            <a:endParaRPr dirty="0"/>
          </a:p>
        </p:txBody>
      </p:sp>
      <p:sp>
        <p:nvSpPr>
          <p:cNvPr id="218" name="Google Shape;218;p19"/>
          <p:cNvSpPr txBox="1"/>
          <p:nvPr/>
        </p:nvSpPr>
        <p:spPr>
          <a:xfrm>
            <a:off x="476249" y="3373229"/>
            <a:ext cx="53244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Precision-Recall:</a:t>
            </a: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curve hugs the top-right corner, maintaining high precision (low false alarms) even at high recall (catching most faults).</a:t>
            </a:r>
            <a:endParaRPr dirty="0"/>
          </a:p>
        </p:txBody>
      </p:sp>
      <p:pic>
        <p:nvPicPr>
          <p:cNvPr id="219" name="Google Shape;219;p19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066948" y="1381231"/>
            <a:ext cx="5534502" cy="422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84151" y="1083915"/>
            <a:ext cx="11899899" cy="5107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871912"/>
            <a:ext cx="5545187" cy="195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7187" y="3871912"/>
            <a:ext cx="5408562" cy="195232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476250" y="381000"/>
            <a:ext cx="1171575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Comparison with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Reference Paper</a:t>
            </a:r>
            <a:endParaRPr dirty="0"/>
          </a:p>
        </p:txBody>
      </p:sp>
      <p:sp>
        <p:nvSpPr>
          <p:cNvPr id="229" name="Google Shape;229;p20"/>
          <p:cNvSpPr/>
          <p:nvPr/>
        </p:nvSpPr>
        <p:spPr>
          <a:xfrm>
            <a:off x="476250" y="1074390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557530" y="1441103"/>
            <a:ext cx="11239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Comparing our SVM approach against the "Passive-Aggressive" baseline from the reference study.</a:t>
            </a:r>
            <a:endParaRPr dirty="0"/>
          </a:p>
        </p:txBody>
      </p:sp>
      <p:sp>
        <p:nvSpPr>
          <p:cNvPr id="231" name="Google Shape;231;p20"/>
          <p:cNvSpPr txBox="1"/>
          <p:nvPr/>
        </p:nvSpPr>
        <p:spPr>
          <a:xfrm>
            <a:off x="771525" y="4167187"/>
            <a:ext cx="5202368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Reference Paper Strategy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771525" y="4649092"/>
            <a:ext cx="4954637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Used Passive-Aggressive Classifiers on multilingual data. Achieved 94% accuracy with 89% F1-Score.</a:t>
            </a:r>
            <a:endParaRPr dirty="0"/>
          </a:p>
        </p:txBody>
      </p:sp>
      <p:sp>
        <p:nvSpPr>
          <p:cNvPr id="233" name="Google Shape;233;p20"/>
          <p:cNvSpPr txBox="1"/>
          <p:nvPr/>
        </p:nvSpPr>
        <p:spPr>
          <a:xfrm>
            <a:off x="6602462" y="4167187"/>
            <a:ext cx="5058913" cy="2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Our Strategy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602462" y="4649092"/>
            <a:ext cx="481801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Used </a:t>
            </a:r>
            <a:r>
              <a:rPr lang="en-US" sz="16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SVM with GridSearch</a:t>
            </a: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on clean English data. Achieved </a:t>
            </a:r>
            <a:r>
              <a:rPr lang="en-US" sz="16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98.5%</a:t>
            </a: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accuracy with </a:t>
            </a:r>
            <a:r>
              <a:rPr lang="en-US" sz="16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98%</a:t>
            </a:r>
            <a:r>
              <a:rPr lang="en-US" sz="16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F1-Score.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1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1076325" y="101827"/>
            <a:ext cx="11715750" cy="51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Validation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Strategy</a:t>
            </a:r>
            <a:endParaRPr dirty="0"/>
          </a:p>
        </p:txBody>
      </p:sp>
      <p:sp>
        <p:nvSpPr>
          <p:cNvPr id="244" name="Google Shape;244;p21"/>
          <p:cNvSpPr/>
          <p:nvPr/>
        </p:nvSpPr>
        <p:spPr>
          <a:xfrm>
            <a:off x="476250" y="23366"/>
            <a:ext cx="112395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A5BD65-317E-AB2A-6974-229D0921ECD2}"/>
              </a:ext>
            </a:extLst>
          </p:cNvPr>
          <p:cNvGrpSpPr/>
          <p:nvPr/>
        </p:nvGrpSpPr>
        <p:grpSpPr>
          <a:xfrm>
            <a:off x="1076325" y="1027625"/>
            <a:ext cx="10517032" cy="1771500"/>
            <a:chOff x="348686" y="547649"/>
            <a:chExt cx="11344647" cy="1847144"/>
          </a:xfrm>
        </p:grpSpPr>
        <p:pic>
          <p:nvPicPr>
            <p:cNvPr id="240" name="Google Shape;240;p21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48686" y="547649"/>
              <a:ext cx="10209247" cy="18471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1"/>
            <p:cNvSpPr txBox="1"/>
            <p:nvPr/>
          </p:nvSpPr>
          <p:spPr>
            <a:xfrm>
              <a:off x="511936" y="1073220"/>
              <a:ext cx="11181397" cy="272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Stratified Splitting</a:t>
              </a:r>
              <a:endParaRPr dirty="0"/>
            </a:p>
          </p:txBody>
        </p:sp>
        <p:sp>
          <p:nvSpPr>
            <p:cNvPr id="246" name="Google Shape;246;p21"/>
            <p:cNvSpPr txBox="1"/>
            <p:nvPr/>
          </p:nvSpPr>
          <p:spPr>
            <a:xfrm>
              <a:off x="771525" y="1543496"/>
              <a:ext cx="9320742" cy="812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4D4D4"/>
                  </a:solidFill>
                  <a:latin typeface="Urbanist"/>
                  <a:ea typeface="Urbanist"/>
                  <a:cs typeface="Urbanist"/>
                  <a:sym typeface="Urbanist"/>
                </a:rPr>
                <a:t>Ensured the ratio of Quality to Non-Quality issues (50/50) remained identical in both Training and Testing sets to prevent bias.</a:t>
              </a:r>
              <a:endParaRPr dirty="0"/>
            </a:p>
          </p:txBody>
        </p:sp>
        <p:pic>
          <p:nvPicPr>
            <p:cNvPr id="251" name="Google Shape;251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97822" y="647533"/>
              <a:ext cx="3429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7A97566-9204-B33E-9257-3BCD028ADDD7}"/>
              </a:ext>
            </a:extLst>
          </p:cNvPr>
          <p:cNvGrpSpPr/>
          <p:nvPr/>
        </p:nvGrpSpPr>
        <p:grpSpPr>
          <a:xfrm>
            <a:off x="1076324" y="2895785"/>
            <a:ext cx="11450955" cy="1771500"/>
            <a:chOff x="620184" y="2975670"/>
            <a:chExt cx="11332738" cy="1771500"/>
          </a:xfrm>
        </p:grpSpPr>
        <p:pic>
          <p:nvPicPr>
            <p:cNvPr id="241" name="Google Shape;241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20184" y="2975670"/>
              <a:ext cx="9378950" cy="17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1"/>
            <p:cNvSpPr txBox="1"/>
            <p:nvPr/>
          </p:nvSpPr>
          <p:spPr>
            <a:xfrm>
              <a:off x="771525" y="3461593"/>
              <a:ext cx="11181397" cy="272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50" b="1" i="0" u="none" strike="noStrike" cap="none" dirty="0">
                  <a:solidFill>
                    <a:srgbClr val="DEFF9A"/>
                  </a:solidFill>
                  <a:latin typeface="Urbanist"/>
                  <a:ea typeface="Urbanist"/>
                  <a:cs typeface="Urbanist"/>
                  <a:sym typeface="Urbanist"/>
                </a:rPr>
                <a:t>5-Fold Cross-Validation</a:t>
              </a:r>
              <a:endParaRPr dirty="0"/>
            </a:p>
          </p:txBody>
        </p:sp>
        <p:sp>
          <p:nvSpPr>
            <p:cNvPr id="248" name="Google Shape;248;p21"/>
            <p:cNvSpPr txBox="1"/>
            <p:nvPr/>
          </p:nvSpPr>
          <p:spPr>
            <a:xfrm>
              <a:off x="1012177" y="3873261"/>
              <a:ext cx="9053156" cy="406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4D4D4"/>
                  </a:solidFill>
                  <a:latin typeface="Urbanist"/>
                  <a:ea typeface="Urbanist"/>
                  <a:cs typeface="Urbanist"/>
                  <a:sym typeface="Urbanist"/>
                </a:rPr>
                <a:t>The model was trained and tested on 5 different subsets of the data. .</a:t>
              </a:r>
              <a:endParaRPr dirty="0"/>
            </a:p>
          </p:txBody>
        </p:sp>
        <p:pic>
          <p:nvPicPr>
            <p:cNvPr id="252" name="Google Shape;252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71525" y="3013918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4518F96-A074-3CC8-51FE-42F7343473E8}"/>
              </a:ext>
            </a:extLst>
          </p:cNvPr>
          <p:cNvGrpSpPr/>
          <p:nvPr/>
        </p:nvGrpSpPr>
        <p:grpSpPr>
          <a:xfrm>
            <a:off x="1076325" y="4810160"/>
            <a:ext cx="10119995" cy="1846326"/>
            <a:chOff x="953558" y="4810160"/>
            <a:chExt cx="10373225" cy="1562363"/>
          </a:xfrm>
        </p:grpSpPr>
        <p:pic>
          <p:nvPicPr>
            <p:cNvPr id="242" name="Google Shape;242;p21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53558" y="4810160"/>
              <a:ext cx="9731375" cy="15623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21"/>
            <p:cNvSpPr txBox="1"/>
            <p:nvPr/>
          </p:nvSpPr>
          <p:spPr>
            <a:xfrm>
              <a:off x="1363261" y="5530722"/>
              <a:ext cx="9963522" cy="6875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4D4D4"/>
                  </a:solidFill>
                  <a:latin typeface="Urbanist"/>
                  <a:ea typeface="Urbanist"/>
                  <a:cs typeface="Urbanist"/>
                  <a:sym typeface="Urbanist"/>
                </a:rPr>
                <a:t>The deployment script successfully loads the serialized model and outputs confidence scores, </a:t>
              </a: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4D4D4"/>
                  </a:solidFill>
                  <a:latin typeface="Urbanist"/>
                  <a:ea typeface="Urbanist"/>
                  <a:cs typeface="Urbanist"/>
                  <a:sym typeface="Urbanist"/>
                </a:rPr>
                <a:t> verifying production readiness.</a:t>
              </a:r>
              <a:endParaRPr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B3F0859-E6BB-8AA0-6868-ACB53CACEA39}"/>
                </a:ext>
              </a:extLst>
            </p:cNvPr>
            <p:cNvGrpSpPr/>
            <p:nvPr/>
          </p:nvGrpSpPr>
          <p:grpSpPr>
            <a:xfrm>
              <a:off x="1111736" y="4896016"/>
              <a:ext cx="9867901" cy="720746"/>
              <a:chOff x="655595" y="5413920"/>
              <a:chExt cx="9867901" cy="720746"/>
            </a:xfrm>
          </p:grpSpPr>
          <p:sp>
            <p:nvSpPr>
              <p:cNvPr id="249" name="Google Shape;249;p21"/>
              <p:cNvSpPr txBox="1"/>
              <p:nvPr/>
            </p:nvSpPr>
            <p:spPr>
              <a:xfrm>
                <a:off x="655595" y="5804576"/>
                <a:ext cx="9867901" cy="3300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950" b="1" i="0" u="none" strike="noStrike" cap="none" dirty="0">
                    <a:solidFill>
                      <a:srgbClr val="DEFF9A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Real-Time Check</a:t>
                </a:r>
                <a:endParaRPr dirty="0"/>
              </a:p>
            </p:txBody>
          </p:sp>
          <p:pic>
            <p:nvPicPr>
              <p:cNvPr id="253" name="Google Shape;253;p21" descr="image.png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771525" y="541392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1914822"/>
            <a:ext cx="3683049" cy="3361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4549" y="1914822"/>
            <a:ext cx="3683049" cy="3361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3349" y="1914822"/>
            <a:ext cx="3683049" cy="336172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285750" y="285750"/>
            <a:ext cx="11906250" cy="63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</a:t>
            </a:r>
            <a:r>
              <a:rPr lang="en-US" sz="4125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angible Outputs &amp; </a:t>
            </a:r>
            <a:r>
              <a:rPr lang="en-US" sz="4125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Identified Gaps</a:t>
            </a:r>
            <a:endParaRPr dirty="0"/>
          </a:p>
        </p:txBody>
      </p:sp>
      <p:sp>
        <p:nvSpPr>
          <p:cNvPr id="193" name="Google Shape;193;p20"/>
          <p:cNvSpPr txBox="1"/>
          <p:nvPr/>
        </p:nvSpPr>
        <p:spPr>
          <a:xfrm>
            <a:off x="493562" y="2661801"/>
            <a:ext cx="32671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Tangible Outputs</a:t>
            </a:r>
            <a:endParaRPr dirty="0"/>
          </a:p>
        </p:txBody>
      </p:sp>
      <p:sp>
        <p:nvSpPr>
          <p:cNvPr id="194" name="Google Shape;194;p20"/>
          <p:cNvSpPr txBox="1"/>
          <p:nvPr/>
        </p:nvSpPr>
        <p:spPr>
          <a:xfrm>
            <a:off x="493562" y="3059057"/>
            <a:ext cx="3111549" cy="65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Trained SVM Model </a:t>
            </a: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</a:br>
            <a:r>
              <a:rPr lang="en-US" sz="1350" b="0" i="0" u="none" strike="noStrike" cap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Functional </a:t>
            </a:r>
            <a:r>
              <a:rPr lang="en-US" sz="1350" b="0" i="0" u="none" strike="noStrike" cap="none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Streamlit</a:t>
            </a:r>
            <a:r>
              <a:rPr lang="en-US" sz="1350" b="0" i="0" u="none" strike="noStrike" cap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 Web App.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</a:br>
            <a:r>
              <a:rPr lang="en-US" sz="1350" b="0" i="0" u="none" strike="noStrike" cap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Actionable classification logic </a:t>
            </a:r>
            <a:r>
              <a:rPr lang="en-US" sz="135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465183" y="2664454"/>
            <a:ext cx="3492549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Identified Gaps &amp; Next steps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7" name="Google Shape;197;p20"/>
          <p:cNvSpPr txBox="1"/>
          <p:nvPr/>
        </p:nvSpPr>
        <p:spPr>
          <a:xfrm>
            <a:off x="8431309" y="2669608"/>
            <a:ext cx="32671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Future Work</a:t>
            </a:r>
            <a:endParaRPr dirty="0"/>
          </a:p>
        </p:txBody>
      </p:sp>
      <p:sp>
        <p:nvSpPr>
          <p:cNvPr id="198" name="Google Shape;198;p20"/>
          <p:cNvSpPr txBox="1"/>
          <p:nvPr/>
        </p:nvSpPr>
        <p:spPr>
          <a:xfrm>
            <a:off x="8356699" y="3164282"/>
            <a:ext cx="3111549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Integrate Translation API for multilingual support.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</a:br>
            <a:r>
              <a:rPr lang="en-US" sz="1350" b="0" i="0" u="none" strike="noStrike" cap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Deploy via Docker containers.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rPr>
            </a:br>
            <a:r>
              <a:rPr lang="en-US" sz="1350" b="0" i="0" u="none" strike="noStrike" cap="none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Urbanist"/>
              </a:rPr>
              <a:t>Retrain on larger dataset.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99" name="Google Shape;19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21962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9978" y="22432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219622"/>
            <a:ext cx="3810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4EF5D41-6186-126A-35E9-38B7C656E86F}"/>
              </a:ext>
            </a:extLst>
          </p:cNvPr>
          <p:cNvGrpSpPr/>
          <p:nvPr/>
        </p:nvGrpSpPr>
        <p:grpSpPr>
          <a:xfrm>
            <a:off x="4445046" y="3100937"/>
            <a:ext cx="3452284" cy="1286370"/>
            <a:chOff x="6682197" y="3309104"/>
            <a:chExt cx="5048251" cy="1286370"/>
          </a:xfrm>
        </p:grpSpPr>
        <p:sp>
          <p:nvSpPr>
            <p:cNvPr id="4" name="Google Shape;214;p20">
              <a:extLst>
                <a:ext uri="{FF2B5EF4-FFF2-40B4-BE49-F238E27FC236}">
                  <a16:creationId xmlns:a16="http://schemas.microsoft.com/office/drawing/2014/main" id="{6AFF3F47-E4A3-53EB-A7A4-F43AAB61F400}"/>
                </a:ext>
              </a:extLst>
            </p:cNvPr>
            <p:cNvSpPr txBox="1"/>
            <p:nvPr/>
          </p:nvSpPr>
          <p:spPr>
            <a:xfrm>
              <a:off x="6682198" y="3309104"/>
              <a:ext cx="5048250" cy="623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u="none" strike="noStrike" cap="none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Data Scale:</a:t>
              </a:r>
              <a:r>
                <a:rPr lang="en-US" sz="1350" b="0" i="0" u="none" strike="noStrike" cap="none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1,000 records is a small sample. Expansion is needed for deep learning.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5" name="Google Shape;215;p20">
              <a:extLst>
                <a:ext uri="{FF2B5EF4-FFF2-40B4-BE49-F238E27FC236}">
                  <a16:creationId xmlns:a16="http://schemas.microsoft.com/office/drawing/2014/main" id="{165FCF1E-EFF6-7695-41C1-409696363533}"/>
                </a:ext>
              </a:extLst>
            </p:cNvPr>
            <p:cNvSpPr txBox="1"/>
            <p:nvPr/>
          </p:nvSpPr>
          <p:spPr>
            <a:xfrm>
              <a:off x="6682197" y="3972226"/>
              <a:ext cx="5048250" cy="623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u="none" strike="noStrike" cap="none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Deployment:</a:t>
              </a:r>
              <a:r>
                <a:rPr lang="en-US" sz="1350" b="0" i="0" u="none" strike="noStrike" cap="none" dirty="0">
                  <a:solidFill>
                    <a:schemeClr val="bg1"/>
                  </a:solidFill>
                  <a:latin typeface="Roboto"/>
                  <a:ea typeface="Roboto"/>
                  <a:cs typeface="Roboto"/>
                  <a:sym typeface="Roboto"/>
                </a:rPr>
                <a:t> Containerize application (Docker) for cloud integration (AWS/Azure).</a:t>
              </a:r>
              <a:endParaRPr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16BC-5B55-4F12-EBD2-25B61E63E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6310"/>
            <a:ext cx="12260826" cy="7285704"/>
          </a:xfrm>
        </p:spPr>
        <p:txBody>
          <a:bodyPr>
            <a:normAutofit/>
          </a:bodyPr>
          <a:lstStyle/>
          <a:p>
            <a:r>
              <a:rPr lang="en-IN" sz="9600" b="1" dirty="0">
                <a:solidFill>
                  <a:srgbClr val="00B05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05488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760</Words>
  <Application>Microsoft Office PowerPoint</Application>
  <PresentationFormat>Widescreen</PresentationFormat>
  <Paragraphs>94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Urbanist Medium</vt:lpstr>
      <vt:lpstr>Trebuchet MS</vt:lpstr>
      <vt:lpstr>Roboto</vt:lpstr>
      <vt:lpstr>Calibri</vt:lpstr>
      <vt:lpstr>Montserrat SemiBold</vt:lpstr>
      <vt:lpstr>Arial</vt:lpstr>
      <vt:lpstr>Urbanist</vt:lpstr>
      <vt:lpstr>Office Theme</vt:lpstr>
      <vt:lpstr>Towards Better Product Quality: Identifying Legitimate Quality Issues using NLP &amp;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Sandeep</dc:creator>
  <cp:lastModifiedBy>Sandra Nidheesh</cp:lastModifiedBy>
  <cp:revision>8</cp:revision>
  <dcterms:modified xsi:type="dcterms:W3CDTF">2025-12-19T12:25:01Z</dcterms:modified>
</cp:coreProperties>
</file>