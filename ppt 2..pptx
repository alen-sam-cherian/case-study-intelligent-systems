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embeddedFontLs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Merriweather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212F02-C1AF-4764-885B-02FDFE55B44E}">
  <a:tblStyle styleId="{F9212F02-C1AF-4764-885B-02FDFE55B44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24" y="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295275" y="1385886"/>
            <a:ext cx="11719744" cy="264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6000" b="1" dirty="0">
                <a:solidFill>
                  <a:srgbClr val="FFC000"/>
                </a:solidFill>
                <a:latin typeface="Meriwhet"/>
              </a:rPr>
              <a:t>Towards Better Product Quality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</a:rPr>
              <a:t>Identifying Legitimate Quality Issues using NLP &amp; Machine Learning</a:t>
            </a:r>
          </a:p>
          <a:p>
            <a:pPr lvl="0" algn="ctr"/>
            <a:endParaRPr sz="4800" dirty="0">
              <a:solidFill>
                <a:schemeClr val="bg1"/>
              </a:solidFill>
              <a:latin typeface="Meriwhet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1809750" y="3595687"/>
            <a:ext cx="857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5"/>
          <p:cNvSpPr txBox="1"/>
          <p:nvPr/>
        </p:nvSpPr>
        <p:spPr>
          <a:xfrm>
            <a:off x="3205162" y="4967287"/>
            <a:ext cx="578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227CC-A322-7515-2132-7872C6FF1204}"/>
              </a:ext>
            </a:extLst>
          </p:cNvPr>
          <p:cNvSpPr txBox="1"/>
          <p:nvPr/>
        </p:nvSpPr>
        <p:spPr>
          <a:xfrm>
            <a:off x="462116" y="3893574"/>
            <a:ext cx="11218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FF00"/>
                </a:solidFill>
              </a:rPr>
              <a:t>                Presented by: Sandeep Nidheesh | Sachin Saji | Alen Sam | Vijeesh K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73831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 txBox="1"/>
          <p:nvPr/>
        </p:nvSpPr>
        <p:spPr>
          <a:xfrm>
            <a:off x="480060" y="142398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Manufacturers of high-end professional products, like Electrolux Professional, are defined by their commitment to outstanding customer-quality experiences.</a:t>
            </a:r>
            <a:endParaRPr dirty="0"/>
          </a:p>
        </p:txBody>
      </p:sp>
      <p:sp>
        <p:nvSpPr>
          <p:cNvPr id="170" name="Google Shape;170;p26"/>
          <p:cNvSpPr txBox="1"/>
          <p:nvPr/>
        </p:nvSpPr>
        <p:spPr>
          <a:xfrm>
            <a:off x="378460" y="2625824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To monitor this, they maintain vast databases of:</a:t>
            </a:r>
            <a:endParaRPr dirty="0"/>
          </a:p>
        </p:txBody>
      </p:sp>
      <p:sp>
        <p:nvSpPr>
          <p:cNvPr id="171" name="Google Shape;171;p26"/>
          <p:cNvSpPr txBox="1"/>
          <p:nvPr/>
        </p:nvSpPr>
        <p:spPr>
          <a:xfrm>
            <a:off x="507047" y="3795710"/>
            <a:ext cx="5286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Analyzing the unstructured text from these service jobs is key to identifying problems, improving product design, and enhancing customer support.</a:t>
            </a:r>
            <a:endParaRPr dirty="0"/>
          </a:p>
        </p:txBody>
      </p:sp>
      <p:sp>
        <p:nvSpPr>
          <p:cNvPr id="172" name="Google Shape;172;p26"/>
          <p:cNvSpPr txBox="1"/>
          <p:nvPr/>
        </p:nvSpPr>
        <p:spPr>
          <a:xfrm>
            <a:off x="437197" y="316790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497522" y="3054449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Customer Complaints</a:t>
            </a:r>
            <a:endParaRPr dirty="0"/>
          </a:p>
        </p:txBody>
      </p:sp>
      <p:sp>
        <p:nvSpPr>
          <p:cNvPr id="174" name="Google Shape;174;p26"/>
          <p:cNvSpPr txBox="1"/>
          <p:nvPr/>
        </p:nvSpPr>
        <p:spPr>
          <a:xfrm>
            <a:off x="437197" y="336793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75" name="Google Shape;175;p26"/>
          <p:cNvSpPr txBox="1"/>
          <p:nvPr/>
        </p:nvSpPr>
        <p:spPr>
          <a:xfrm>
            <a:off x="507047" y="3296492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Technical Service Repair Jobs</a:t>
            </a:r>
            <a:endParaRPr dirty="0"/>
          </a:p>
        </p:txBody>
      </p:sp>
      <p:pic>
        <p:nvPicPr>
          <p:cNvPr id="176" name="Google Shape;17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757362"/>
            <a:ext cx="5248275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38275"/>
            <a:ext cx="528637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38275"/>
            <a:ext cx="5286375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962025" y="1828800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Manual Bottleneck</a:t>
            </a:r>
            <a:endParaRPr/>
          </a:p>
        </p:txBody>
      </p:sp>
      <p:sp>
        <p:nvSpPr>
          <p:cNvPr id="185" name="Google Shape;185;p27"/>
          <p:cNvSpPr txBox="1"/>
          <p:nvPr/>
        </p:nvSpPr>
        <p:spPr>
          <a:xfrm>
            <a:off x="962025" y="2362200"/>
            <a:ext cx="4505325" cy="205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core challenge is the manual, human-led classification of every service job. A quality-field department manually reads and assesses each report to determine if it's a "genuine quality issue" or not.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p27"/>
          <p:cNvSpPr txBox="1"/>
          <p:nvPr/>
        </p:nvSpPr>
        <p:spPr>
          <a:xfrm>
            <a:off x="962025" y="4059422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This process is:</a:t>
            </a:r>
            <a:endParaRPr dirty="0"/>
          </a:p>
        </p:txBody>
      </p:sp>
      <p:sp>
        <p:nvSpPr>
          <p:cNvPr id="187" name="Google Shape;187;p27"/>
          <p:cNvSpPr txBox="1"/>
          <p:nvPr/>
        </p:nvSpPr>
        <p:spPr>
          <a:xfrm>
            <a:off x="6724650" y="1828800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Data Complexity</a:t>
            </a:r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6724650" y="236220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problem is amplified by the nature of the data itself. The service job text is:</a:t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6627025" y="4457700"/>
            <a:ext cx="4505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Goal: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Automate this classification to save time, reduce costs, and ensure consistent, accurate quality monitoring.</a:t>
            </a:r>
            <a:endParaRPr/>
          </a:p>
        </p:txBody>
      </p:sp>
      <p:sp>
        <p:nvSpPr>
          <p:cNvPr id="190" name="Google Shape;190;p27"/>
          <p:cNvSpPr txBox="1"/>
          <p:nvPr/>
        </p:nvSpPr>
        <p:spPr>
          <a:xfrm>
            <a:off x="1143000" y="44577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1200150" y="4457700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Slow: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Delays in identifying emerging problems.</a:t>
            </a:r>
            <a:endParaRPr/>
          </a:p>
        </p:txBody>
      </p:sp>
      <p:sp>
        <p:nvSpPr>
          <p:cNvPr id="192" name="Google Shape;192;p27"/>
          <p:cNvSpPr txBox="1"/>
          <p:nvPr/>
        </p:nvSpPr>
        <p:spPr>
          <a:xfrm>
            <a:off x="1143000" y="48577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1200150" y="4857750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Expensive: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Requires significant human resources.</a:t>
            </a:r>
            <a:endParaRPr/>
          </a:p>
        </p:txBody>
      </p:sp>
      <p:sp>
        <p:nvSpPr>
          <p:cNvPr id="194" name="Google Shape;194;p27"/>
          <p:cNvSpPr txBox="1"/>
          <p:nvPr/>
        </p:nvSpPr>
        <p:spPr>
          <a:xfrm>
            <a:off x="1143000" y="52578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5" name="Google Shape;195;p27"/>
          <p:cNvSpPr txBox="1"/>
          <p:nvPr/>
        </p:nvSpPr>
        <p:spPr>
          <a:xfrm>
            <a:off x="1200150" y="5257800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Inconsistent: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Prone to human error and subjective bias.</a:t>
            </a:r>
            <a:endParaRPr/>
          </a:p>
        </p:txBody>
      </p:sp>
      <p:sp>
        <p:nvSpPr>
          <p:cNvPr id="196" name="Google Shape;196;p27"/>
          <p:cNvSpPr txBox="1"/>
          <p:nvPr/>
        </p:nvSpPr>
        <p:spPr>
          <a:xfrm>
            <a:off x="6905625" y="31242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7" name="Google Shape;197;p27"/>
          <p:cNvSpPr txBox="1"/>
          <p:nvPr/>
        </p:nvSpPr>
        <p:spPr>
          <a:xfrm>
            <a:off x="6962775" y="3124200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Brief: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Lacks detailed, structured descriptions.</a:t>
            </a:r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6905625" y="35242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9" name="Google Shape;199;p27"/>
          <p:cNvSpPr txBox="1"/>
          <p:nvPr/>
        </p:nvSpPr>
        <p:spPr>
          <a:xfrm>
            <a:off x="6962775" y="3524250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Domain-Specific: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Full of technical terms, abbreviations, and part codes.</a:t>
            </a:r>
            <a:endParaRPr/>
          </a:p>
        </p:txBody>
      </p:sp>
      <p:sp>
        <p:nvSpPr>
          <p:cNvPr id="200" name="Google Shape;200;p27"/>
          <p:cNvSpPr txBox="1"/>
          <p:nvPr/>
        </p:nvSpPr>
        <p:spPr>
          <a:xfrm>
            <a:off x="6905625" y="4181475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7"/>
          <p:cNvSpPr txBox="1"/>
          <p:nvPr/>
        </p:nvSpPr>
        <p:spPr>
          <a:xfrm>
            <a:off x="6962775" y="4181475"/>
            <a:ext cx="4267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571500" y="5334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Real Industrial Problem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38312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38312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 txBox="1"/>
          <p:nvPr/>
        </p:nvSpPr>
        <p:spPr>
          <a:xfrm>
            <a:off x="748188" y="2747962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Legitimate Quality Issue (Approved)</a:t>
            </a:r>
            <a:endParaRPr/>
          </a:p>
        </p:txBody>
      </p:sp>
      <p:sp>
        <p:nvSpPr>
          <p:cNvPr id="210" name="Google Shape;210;p28"/>
          <p:cNvSpPr txBox="1"/>
          <p:nvPr/>
        </p:nvSpPr>
        <p:spPr>
          <a:xfrm>
            <a:off x="866775" y="3424237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 problem that requires attention at the production or design level. This is a genuine product fault.</a:t>
            </a:r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6988254" y="2747962"/>
            <a:ext cx="39304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Non-Quality Issue (Rejected)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6772275" y="3424237"/>
            <a:ext cx="43626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An issue that is NOT a product fault. </a:t>
            </a:r>
            <a:endParaRPr sz="1500" b="0" i="0" u="none" strike="noStrike" cap="none">
              <a:solidFill>
                <a:srgbClr val="12121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This includes:</a:t>
            </a:r>
            <a:endParaRPr/>
          </a:p>
        </p:txBody>
      </p:sp>
      <p:pic>
        <p:nvPicPr>
          <p:cNvPr id="213" name="Google Shape;213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09900" y="20526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24900" y="20526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 txBox="1"/>
          <p:nvPr/>
        </p:nvSpPr>
        <p:spPr>
          <a:xfrm>
            <a:off x="7448550" y="40528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6" name="Google Shape;216;p28"/>
          <p:cNvSpPr txBox="1"/>
          <p:nvPr/>
        </p:nvSpPr>
        <p:spPr>
          <a:xfrm>
            <a:off x="7515225" y="4052887"/>
            <a:ext cx="3257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Customer misuse</a:t>
            </a:r>
            <a:endParaRPr/>
          </a:p>
        </p:txBody>
      </p:sp>
      <p:sp>
        <p:nvSpPr>
          <p:cNvPr id="217" name="Google Shape;217;p28"/>
          <p:cNvSpPr txBox="1"/>
          <p:nvPr/>
        </p:nvSpPr>
        <p:spPr>
          <a:xfrm>
            <a:off x="7448550" y="43386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8" name="Google Shape;218;p28"/>
          <p:cNvSpPr txBox="1"/>
          <p:nvPr/>
        </p:nvSpPr>
        <p:spPr>
          <a:xfrm>
            <a:off x="7515225" y="4338637"/>
            <a:ext cx="3257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Incorrect installation</a:t>
            </a:r>
            <a:endParaRPr dirty="0"/>
          </a:p>
        </p:txBody>
      </p:sp>
      <p:sp>
        <p:nvSpPr>
          <p:cNvPr id="219" name="Google Shape;219;p28"/>
          <p:cNvSpPr txBox="1"/>
          <p:nvPr/>
        </p:nvSpPr>
        <p:spPr>
          <a:xfrm>
            <a:off x="7448550" y="46243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0" name="Google Shape;220;p28"/>
          <p:cNvSpPr txBox="1"/>
          <p:nvPr/>
        </p:nvSpPr>
        <p:spPr>
          <a:xfrm>
            <a:off x="7515225" y="4624387"/>
            <a:ext cx="3257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Standard maintenance </a:t>
            </a:r>
            <a:endParaRPr/>
          </a:p>
        </p:txBody>
      </p:sp>
      <p:sp>
        <p:nvSpPr>
          <p:cNvPr id="221" name="Google Shape;221;p28"/>
          <p:cNvSpPr txBox="1"/>
          <p:nvPr/>
        </p:nvSpPr>
        <p:spPr>
          <a:xfrm>
            <a:off x="7448550" y="49101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2" name="Google Shape;222;p28"/>
          <p:cNvSpPr txBox="1"/>
          <p:nvPr/>
        </p:nvSpPr>
        <p:spPr>
          <a:xfrm>
            <a:off x="7515225" y="4910118"/>
            <a:ext cx="3360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Replacing consumables</a:t>
            </a:r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Classification Task: Issue vs. Non-Issue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/>
          <p:nvPr/>
        </p:nvSpPr>
        <p:spPr>
          <a:xfrm>
            <a:off x="5524500" y="2266950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295275" y="2609850"/>
            <a:ext cx="11601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How Others Have Approached This</a:t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4248150" y="4533900"/>
            <a:ext cx="3695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14462"/>
            <a:ext cx="5286375" cy="493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14462"/>
            <a:ext cx="5286375" cy="49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 txBox="1"/>
          <p:nvPr/>
        </p:nvSpPr>
        <p:spPr>
          <a:xfrm>
            <a:off x="962025" y="1804987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Perspective &amp; Assumption</a:t>
            </a:r>
            <a:endParaRPr/>
          </a:p>
        </p:txBody>
      </p:sp>
      <p:sp>
        <p:nvSpPr>
          <p:cNvPr id="239" name="Google Shape;239;p30"/>
          <p:cNvSpPr txBox="1"/>
          <p:nvPr/>
        </p:nvSpPr>
        <p:spPr>
          <a:xfrm>
            <a:off x="962025" y="233838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assumption is that standard text classification can be applied to industrial customer support or complaint data to find patterns.</a:t>
            </a:r>
            <a:endParaRPr/>
          </a:p>
        </p:txBody>
      </p:sp>
      <p:sp>
        <p:nvSpPr>
          <p:cNvPr id="240" name="Google Shape;240;p30"/>
          <p:cNvSpPr txBox="1"/>
          <p:nvPr/>
        </p:nvSpPr>
        <p:spPr>
          <a:xfrm>
            <a:off x="1127284" y="3476624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Methods Used</a:t>
            </a:r>
            <a:endParaRPr dirty="0"/>
          </a:p>
        </p:txBody>
      </p:sp>
      <p:sp>
        <p:nvSpPr>
          <p:cNvPr id="241" name="Google Shape;241;p30"/>
          <p:cNvSpPr txBox="1"/>
          <p:nvPr/>
        </p:nvSpPr>
        <p:spPr>
          <a:xfrm>
            <a:off x="6724650" y="1804987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Takeaway for Us</a:t>
            </a:r>
            <a:endParaRPr/>
          </a:p>
        </p:txBody>
      </p:sp>
      <p:sp>
        <p:nvSpPr>
          <p:cNvPr id="242" name="Google Shape;242;p30"/>
          <p:cNvSpPr txBox="1"/>
          <p:nvPr/>
        </p:nvSpPr>
        <p:spPr>
          <a:xfrm>
            <a:off x="6724650" y="233838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This confirms that ML is a viable path for this problem. It also gives us a baseline of methods to test (TF-IDF, SVM, Random Forest).</a:t>
            </a:r>
            <a:endParaRPr/>
          </a:p>
        </p:txBody>
      </p:sp>
      <p:sp>
        <p:nvSpPr>
          <p:cNvPr id="243" name="Google Shape;243;p30"/>
          <p:cNvSpPr txBox="1"/>
          <p:nvPr/>
        </p:nvSpPr>
        <p:spPr>
          <a:xfrm>
            <a:off x="6724650" y="3386137"/>
            <a:ext cx="45054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However, their accuracy scores show that this is a hard problem. </a:t>
            </a:r>
            <a:endParaRPr/>
          </a:p>
        </p:txBody>
      </p:sp>
      <p:sp>
        <p:nvSpPr>
          <p:cNvPr id="244" name="Google Shape;244;p30"/>
          <p:cNvSpPr txBox="1"/>
          <p:nvPr/>
        </p:nvSpPr>
        <p:spPr>
          <a:xfrm>
            <a:off x="1143000" y="3871912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5" name="Google Shape;245;p30"/>
          <p:cNvSpPr txBox="1"/>
          <p:nvPr/>
        </p:nvSpPr>
        <p:spPr>
          <a:xfrm>
            <a:off x="1200150" y="3871912"/>
            <a:ext cx="4267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Parmar et al. [14]: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Categorized customer complaint messages. They used TF-IDF for features and found SVM achieved the highest accuracy (63.02%).</a:t>
            </a:r>
            <a:endParaRPr/>
          </a:p>
        </p:txBody>
      </p:sp>
      <p:sp>
        <p:nvSpPr>
          <p:cNvPr id="246" name="Google Shape;246;p30"/>
          <p:cNvSpPr txBox="1"/>
          <p:nvPr/>
        </p:nvSpPr>
        <p:spPr>
          <a:xfrm>
            <a:off x="1143000" y="4786312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7" name="Google Shape;247;p30"/>
          <p:cNvSpPr txBox="1"/>
          <p:nvPr/>
        </p:nvSpPr>
        <p:spPr>
          <a:xfrm>
            <a:off x="1200150" y="4786312"/>
            <a:ext cx="42672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Ohata et al. [15]: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Classified technical support messages. They also faced challenges with short, technical text. Random Forest performed best for them (72.7% accuracy).</a:t>
            </a:r>
            <a:endParaRPr/>
          </a:p>
        </p:txBody>
      </p:sp>
      <p:sp>
        <p:nvSpPr>
          <p:cNvPr id="248" name="Google Shape;248;p30"/>
          <p:cNvSpPr txBox="1"/>
          <p:nvPr/>
        </p:nvSpPr>
        <p:spPr>
          <a:xfrm>
            <a:off x="571500" y="509587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Industrial Classification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00175"/>
            <a:ext cx="5286375" cy="49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00175"/>
            <a:ext cx="5286375" cy="49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1"/>
          <p:cNvSpPr txBox="1"/>
          <p:nvPr/>
        </p:nvSpPr>
        <p:spPr>
          <a:xfrm>
            <a:off x="962025" y="1790700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Perspective &amp; Assumption</a:t>
            </a:r>
            <a:endParaRPr/>
          </a:p>
        </p:txBody>
      </p:sp>
      <p:sp>
        <p:nvSpPr>
          <p:cNvPr id="256" name="Google Shape;256;p31"/>
          <p:cNvSpPr txBox="1"/>
          <p:nvPr/>
        </p:nvSpPr>
        <p:spPr>
          <a:xfrm>
            <a:off x="962025" y="2324100"/>
            <a:ext cx="45054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For highly technical, abbreviated, or specialized text, simple models may fail. The assumption is that models need to understand the meaning (semantics) of technical terms.</a:t>
            </a:r>
            <a:endParaRPr/>
          </a:p>
        </p:txBody>
      </p:sp>
      <p:sp>
        <p:nvSpPr>
          <p:cNvPr id="257" name="Google Shape;257;p31"/>
          <p:cNvSpPr txBox="1"/>
          <p:nvPr/>
        </p:nvSpPr>
        <p:spPr>
          <a:xfrm>
            <a:off x="962024" y="3800475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Methods Used</a:t>
            </a:r>
            <a:endParaRPr/>
          </a:p>
        </p:txBody>
      </p:sp>
      <p:sp>
        <p:nvSpPr>
          <p:cNvPr id="258" name="Google Shape;258;p31"/>
          <p:cNvSpPr txBox="1"/>
          <p:nvPr/>
        </p:nvSpPr>
        <p:spPr>
          <a:xfrm>
            <a:off x="6724650" y="1790700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Takeaway for Us</a:t>
            </a:r>
            <a:endParaRPr/>
          </a:p>
        </p:txBody>
      </p:sp>
      <p:sp>
        <p:nvSpPr>
          <p:cNvPr id="259" name="Google Shape;259;p31"/>
          <p:cNvSpPr txBox="1"/>
          <p:nvPr/>
        </p:nvSpPr>
        <p:spPr>
          <a:xfrm>
            <a:off x="6724650" y="232410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This shows that word embeddings (like Word2Vec) are a strong candidate for our technical data.</a:t>
            </a:r>
            <a:endParaRPr/>
          </a:p>
        </p:txBody>
      </p:sp>
      <p:sp>
        <p:nvSpPr>
          <p:cNvPr id="260" name="Google Shape;260;p31"/>
          <p:cNvSpPr txBox="1"/>
          <p:nvPr/>
        </p:nvSpPr>
        <p:spPr>
          <a:xfrm>
            <a:off x="6724650" y="3086100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It justifies our plan to test not just traditional methods (TF-IDF) but also embedding-based methods (Word2Vec, GloVe, Doc2Vec) to see which is superior for our specific corpus.</a:t>
            </a:r>
            <a:endParaRPr/>
          </a:p>
        </p:txBody>
      </p:sp>
      <p:sp>
        <p:nvSpPr>
          <p:cNvPr id="261" name="Google Shape;261;p31"/>
          <p:cNvSpPr txBox="1"/>
          <p:nvPr/>
        </p:nvSpPr>
        <p:spPr>
          <a:xfrm>
            <a:off x="1143000" y="41433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2" name="Google Shape;262;p31"/>
          <p:cNvSpPr txBox="1"/>
          <p:nvPr/>
        </p:nvSpPr>
        <p:spPr>
          <a:xfrm>
            <a:off x="1200150" y="4143375"/>
            <a:ext cx="4267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Hoffmann et al. [16]: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Classified daily reports from drilling engineers (full of symbols, abbreviations, misspellings).</a:t>
            </a:r>
            <a:endParaRPr/>
          </a:p>
        </p:txBody>
      </p:sp>
      <p:sp>
        <p:nvSpPr>
          <p:cNvPr id="263" name="Google Shape;263;p31"/>
          <p:cNvSpPr txBox="1"/>
          <p:nvPr/>
        </p:nvSpPr>
        <p:spPr>
          <a:xfrm>
            <a:off x="1143000" y="50577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4" name="Google Shape;264;p31"/>
          <p:cNvSpPr txBox="1"/>
          <p:nvPr/>
        </p:nvSpPr>
        <p:spPr>
          <a:xfrm>
            <a:off x="1200150" y="5057775"/>
            <a:ext cx="4267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They used </a:t>
            </a: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Word2Vec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(a word embedding) for feature extraction and an </a:t>
            </a:r>
            <a:r>
              <a:rPr lang="en-US" sz="135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LSTM</a:t>
            </a:r>
            <a:r>
              <a:rPr lang="en-US" sz="135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(a neural network) for classification, achieving 82.7% accuracy.</a:t>
            </a: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571500" y="4953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Complex Technical Text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5875" y="1404093"/>
            <a:ext cx="1333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2"/>
          <p:cNvSpPr txBox="1"/>
          <p:nvPr/>
        </p:nvSpPr>
        <p:spPr>
          <a:xfrm>
            <a:off x="1552575" y="1306838"/>
            <a:ext cx="9201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We proposed an effective preprocessing protocol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that successfully </a:t>
            </a:r>
            <a:r>
              <a:rPr lang="en-US" sz="15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handle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domain-specific text by using a custom dictionary and translation API.</a:t>
            </a:r>
            <a:endParaRPr dirty="0"/>
          </a:p>
        </p:txBody>
      </p:sp>
      <p:pic>
        <p:nvPicPr>
          <p:cNvPr id="272" name="Google Shape;27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4450" y="2213297"/>
            <a:ext cx="1714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2"/>
          <p:cNvSpPr txBox="1"/>
          <p:nvPr/>
        </p:nvSpPr>
        <p:spPr>
          <a:xfrm>
            <a:off x="1571700" y="2150533"/>
            <a:ext cx="91630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We demonstrated that TF-IDF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is the superior feature extraction method for this task, outperforming modern embeddings, likely due to the predictive power of specific technical terms.</a:t>
            </a:r>
            <a:endParaRPr dirty="0"/>
          </a:p>
        </p:txBody>
      </p:sp>
      <p:pic>
        <p:nvPicPr>
          <p:cNvPr id="274" name="Google Shape;274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14450" y="3071390"/>
            <a:ext cx="1714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2"/>
          <p:cNvSpPr txBox="1"/>
          <p:nvPr/>
        </p:nvSpPr>
        <p:spPr>
          <a:xfrm>
            <a:off x="1590825" y="2918990"/>
            <a:ext cx="91630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We identified the Passive-Aggressive classifier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as the top-performing model, achieving 94% accuracy and 89% F1-Score, and validated its superiority with statistical analysis.</a:t>
            </a:r>
            <a:endParaRPr dirty="0"/>
          </a:p>
        </p:txBody>
      </p:sp>
      <p:pic>
        <p:nvPicPr>
          <p:cNvPr id="276" name="Google Shape;276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47775" y="3796133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 txBox="1"/>
          <p:nvPr/>
        </p:nvSpPr>
        <p:spPr>
          <a:xfrm>
            <a:off x="1590825" y="3796133"/>
            <a:ext cx="9029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Overall, we delivered a complete, validated ML-based solution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that effectively automates the classification of service jobs, solving a critical industrial problem.</a:t>
            </a:r>
            <a:endParaRPr dirty="0"/>
          </a:p>
        </p:txBody>
      </p:sp>
      <p:sp>
        <p:nvSpPr>
          <p:cNvPr id="278" name="Google Shape;278;p32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Our Contribution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4"/>
          <p:cNvSpPr txBox="1"/>
          <p:nvPr/>
        </p:nvSpPr>
        <p:spPr>
          <a:xfrm>
            <a:off x="862800" y="2599200"/>
            <a:ext cx="10401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307" name="Google Shape;307;p34"/>
          <p:cNvSpPr txBox="1"/>
          <p:nvPr/>
        </p:nvSpPr>
        <p:spPr>
          <a:xfrm>
            <a:off x="1143000" y="2314575"/>
            <a:ext cx="9906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688</Words>
  <Application>Microsoft Office PowerPoint</Application>
  <PresentationFormat>Widescreen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DM Sans</vt:lpstr>
      <vt:lpstr>Calibri</vt:lpstr>
      <vt:lpstr>Meriwhet</vt:lpstr>
      <vt:lpstr>Arial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sachin saji</cp:lastModifiedBy>
  <cp:revision>2</cp:revision>
  <dcterms:modified xsi:type="dcterms:W3CDTF">2025-11-09T19:37:15Z</dcterms:modified>
</cp:coreProperties>
</file>