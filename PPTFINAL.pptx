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1" r:id="rId11"/>
    <p:sldId id="262" r:id="rId12"/>
    <p:sldId id="263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6CEC8-7084-4B93-9D65-BAD8CB700FD4}" v="3" dt="2026-01-15T07:48:57.958"/>
  </p1510:revLst>
</p1510:revInfo>
</file>

<file path=ppt/tableStyles.xml><?xml version="1.0" encoding="utf-8"?>
<a:tblStyleLst xmlns:a="http://schemas.openxmlformats.org/drawingml/2006/main" def="{7286296E-9398-432D-9F17-2ECD0FF255FB}">
  <a:tblStyle styleId="{7286296E-9398-432D-9F17-2ECD0FF255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5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5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48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22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1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2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5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8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053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4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11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D59D-35E0-B363-B634-1F045C6F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259381"/>
            <a:ext cx="9832257" cy="2169619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92D050"/>
                </a:solidFill>
                <a:latin typeface="Trebuchet MS" panose="020B0603020202020204" pitchFamily="34" charset="0"/>
                <a:cs typeface="Poppins" panose="00000500000000000000" pitchFamily="2" charset="0"/>
              </a:rPr>
              <a:t>Towards Better Product Quality: Identifying Legitimate Quality Issues using NLP &amp; Machine Learning</a:t>
            </a:r>
            <a:endParaRPr lang="en-IN" sz="5400" dirty="0">
              <a:latin typeface="Trebuchet MS" panose="020B06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15905-5F95-C8EE-5471-D4E27C996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923071"/>
            <a:ext cx="10058400" cy="2104103"/>
          </a:xfrm>
        </p:spPr>
        <p:txBody>
          <a:bodyPr>
            <a:normAutofit fontScale="62500" lnSpcReduction="20000"/>
          </a:bodyPr>
          <a:lstStyle/>
          <a:p>
            <a:pPr algn="ctr">
              <a:spcBef>
                <a:spcPts val="2005"/>
              </a:spcBef>
            </a:pPr>
            <a:r>
              <a:rPr lang="en-IN" b="1" spc="60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Presented</a:t>
            </a:r>
            <a:r>
              <a:rPr lang="en-IN" b="1" spc="-265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b="1" spc="90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by,</a:t>
            </a:r>
          </a:p>
          <a:p>
            <a:pPr algn="ctr">
              <a:spcBef>
                <a:spcPts val="2005"/>
              </a:spcBef>
            </a:pPr>
            <a:r>
              <a:rPr lang="en-IN" b="1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Alen Sam</a:t>
            </a:r>
          </a:p>
          <a:p>
            <a:pPr marR="5080">
              <a:lnSpc>
                <a:spcPct val="120000"/>
              </a:lnSpc>
              <a:spcBef>
                <a:spcPts val="1365"/>
              </a:spcBef>
            </a:pPr>
            <a:r>
              <a:rPr lang="en-IN" b="1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		                    Sachin</a:t>
            </a:r>
            <a:r>
              <a:rPr lang="en-IN" b="1" spc="10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b="1" spc="-20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Saji</a:t>
            </a:r>
          </a:p>
          <a:p>
            <a:pPr marR="5080">
              <a:lnSpc>
                <a:spcPct val="120000"/>
              </a:lnSpc>
              <a:spcBef>
                <a:spcPts val="1365"/>
              </a:spcBef>
            </a:pPr>
            <a:r>
              <a:rPr lang="en-IN" b="1" spc="-20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Sandeep Nidheesh</a:t>
            </a:r>
          </a:p>
          <a:p>
            <a:pPr marR="5080">
              <a:lnSpc>
                <a:spcPct val="120000"/>
              </a:lnSpc>
              <a:spcBef>
                <a:spcPts val="1365"/>
              </a:spcBef>
            </a:pPr>
            <a:r>
              <a:rPr lang="en-IN" b="1" spc="-20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  <a:latin typeface="Trebuchet MS" panose="020B0603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Vijeesh K 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03580"/>
            <a:ext cx="12821920" cy="811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4587" y="3303970"/>
            <a:ext cx="4641534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76275" y="1333500"/>
            <a:ext cx="1138142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ML INDUSTRIAL CAPSTONE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76275" y="1800225"/>
            <a:ext cx="11381422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Automated Classification of Customer Complaints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90575" y="3605495"/>
            <a:ext cx="52292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NLP-SVM Triage for Industrial Faults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563677" y="3419757"/>
            <a:ext cx="48706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Model Performance Summary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90575" y="41414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859155" y="4068367"/>
            <a:ext cx="48482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Problem: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High-latency manual triaging in industrial support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02005" y="4437881"/>
            <a:ext cx="161924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•`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859154" y="4349116"/>
            <a:ext cx="48482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Dataset: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1,000 samples (Kaggle/Consumer Complaints).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06766" y="47383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858202" y="4662887"/>
            <a:ext cx="4959667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Objective: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Binary classification: QUALITY vs NON-QUALITY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581775" y="3932305"/>
            <a:ext cx="857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98.5%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6581775" y="4495247"/>
            <a:ext cx="857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8447722" y="3932305"/>
            <a:ext cx="6096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0.99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8534399" y="4493028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ROC AUC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9618345" y="3932304"/>
            <a:ext cx="895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 dirty="0"/>
          </a:p>
        </p:txBody>
      </p:sp>
      <p:sp>
        <p:nvSpPr>
          <p:cNvPr id="101" name="Google Shape;101;p13"/>
          <p:cNvSpPr txBox="1"/>
          <p:nvPr/>
        </p:nvSpPr>
        <p:spPr>
          <a:xfrm>
            <a:off x="9661206" y="4366443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FALSE POSITIVES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313920" cy="733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4529138"/>
            <a:ext cx="348615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3425" y="4529138"/>
            <a:ext cx="348615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77225" y="4529138"/>
            <a:ext cx="3486150" cy="1909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66775" y="524719"/>
            <a:ext cx="1118139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INDUSTRIAL PROBLEM &amp; STRATEGIC 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76275" y="48577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76274" y="1585912"/>
            <a:ext cx="615124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Triage Bottleneck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76275" y="2071687"/>
            <a:ext cx="849820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 processing of customer feedback leads to inconsistency and risks regulatory non-compliance during critical fault cycles.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1004886" y="4810448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Zero Alert Fatigue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1004886" y="5197838"/>
            <a:ext cx="29908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Achieving 1.0 precision for Quality classes to ensure engineering trust in alerts.</a:t>
            </a:r>
            <a:endParaRPr dirty="0"/>
          </a:p>
        </p:txBody>
      </p:sp>
      <p:sp>
        <p:nvSpPr>
          <p:cNvPr id="118" name="Google Shape;118;p14"/>
          <p:cNvSpPr txBox="1"/>
          <p:nvPr/>
        </p:nvSpPr>
        <p:spPr>
          <a:xfrm>
            <a:off x="4600575" y="4791236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Real-time ROI</a:t>
            </a:r>
            <a:endParaRPr dirty="0"/>
          </a:p>
        </p:txBody>
      </p:sp>
      <p:sp>
        <p:nvSpPr>
          <p:cNvPr id="119" name="Google Shape;119;p14"/>
          <p:cNvSpPr txBox="1"/>
          <p:nvPr/>
        </p:nvSpPr>
        <p:spPr>
          <a:xfrm>
            <a:off x="4600575" y="5229225"/>
            <a:ext cx="29908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Deployment via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instant feedback loop in service centers.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8450104" y="4791236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Audit Readiness</a:t>
            </a:r>
            <a:endParaRPr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8450104" y="5212762"/>
            <a:ext cx="29908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Deterministic SVM logic provides transparent audit trails for fault classification.</a:t>
            </a:r>
            <a:endParaRPr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952500" y="2831521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1057275" y="2767012"/>
            <a:ext cx="5770244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Industrial Impact: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Reduce response latency for Quality issues by 85%.</a:t>
            </a:r>
            <a:endParaRPr dirty="0"/>
          </a:p>
        </p:txBody>
      </p:sp>
      <p:sp>
        <p:nvSpPr>
          <p:cNvPr id="124" name="Google Shape;124;p14"/>
          <p:cNvSpPr txBox="1"/>
          <p:nvPr/>
        </p:nvSpPr>
        <p:spPr>
          <a:xfrm>
            <a:off x="952499" y="3353276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5" name="Google Shape;125;p14"/>
          <p:cNvSpPr txBox="1"/>
          <p:nvPr/>
        </p:nvSpPr>
        <p:spPr>
          <a:xfrm>
            <a:off x="1057275" y="3309937"/>
            <a:ext cx="811720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High-precision separation of administrative noise from engineering-critical defects.</a:t>
            </a:r>
            <a:endParaRPr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952500" y="385048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7" name="Google Shape;127;p14"/>
          <p:cNvSpPr txBox="1"/>
          <p:nvPr/>
        </p:nvSpPr>
        <p:spPr>
          <a:xfrm>
            <a:off x="1057275" y="3852862"/>
            <a:ext cx="67818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Motivation: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Shift human experts from "sorting" to "root cause analysis".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940"/>
            <a:ext cx="12588240" cy="740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026818"/>
            <a:ext cx="4943475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71525" y="1092993"/>
            <a:ext cx="4990623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MODELING &amp; SIMULATION FLOWCHART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81025" y="1092993"/>
            <a:ext cx="95250" cy="971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81025" y="2342998"/>
            <a:ext cx="519064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Integrated NLP Pipeline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81025" y="2836068"/>
            <a:ext cx="49434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 multi-stage pipeline transforms unstructured customer text into high-dimensional numerical feature vectors.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19150" y="3643312"/>
            <a:ext cx="1428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890586" y="3567328"/>
            <a:ext cx="45624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Preprocessing: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Regex cleaning, lowering, tokenization.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19149" y="3953090"/>
            <a:ext cx="1428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890585" y="3901786"/>
            <a:ext cx="45624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Featurization: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TF-IDF Vectorization (1-2 Grams).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19143" y="4291335"/>
            <a:ext cx="1428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lang="en-US"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890580" y="4223736"/>
            <a:ext cx="45624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Optimization: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Hyperparameter tuning via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GridSearchCv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19145" y="4617546"/>
            <a:ext cx="71438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dirty="0"/>
          </a:p>
        </p:txBody>
      </p:sp>
      <p:sp>
        <p:nvSpPr>
          <p:cNvPr id="146" name="Google Shape;146;p15"/>
          <p:cNvSpPr txBox="1"/>
          <p:nvPr/>
        </p:nvSpPr>
        <p:spPr>
          <a:xfrm>
            <a:off x="890580" y="4537018"/>
            <a:ext cx="45624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Decision: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Linear SVM Hyperplane separation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7" name="Google Shape;14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4864" y="5255418"/>
            <a:ext cx="2528143" cy="19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2E4BF0-7216-37A7-AB54-710A83829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964513"/>
            <a:ext cx="6190089" cy="5576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257300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866775" y="485775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SELECTION &amp; OPTIMIZATION STRATEGY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676275" y="48577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16"/>
          <p:cNvGraphicFramePr/>
          <p:nvPr>
            <p:extLst>
              <p:ext uri="{D42A27DB-BD31-4B8C-83A1-F6EECF244321}">
                <p14:modId xmlns:p14="http://schemas.microsoft.com/office/powerpoint/2010/main" val="440599308"/>
              </p:ext>
            </p:extLst>
          </p:nvPr>
        </p:nvGraphicFramePr>
        <p:xfrm>
          <a:off x="723900" y="4987475"/>
          <a:ext cx="9950925" cy="1184725"/>
        </p:xfrm>
        <a:graphic>
          <a:graphicData uri="http://schemas.openxmlformats.org/drawingml/2006/table">
            <a:tbl>
              <a:tblPr firstRow="1" bandRow="1">
                <a:noFill/>
                <a:tableStyleId>{7286296E-9398-432D-9F17-2ECD0FF255FB}</a:tableStyleId>
              </a:tblPr>
              <a:tblGrid>
                <a:gridCol w="233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Hyperparameter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Search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Optimal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Regularization (C)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0.1, 1, 10, 100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Balanced margin vs error penalty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Kernel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Linear, RBF, Poly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Optimal for high-dim sparse text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TF-IDF Max Features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2k, 5k, 10k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Noise reduction without info loss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7" name="Google Shape;157;p16"/>
          <p:cNvSpPr txBox="1"/>
          <p:nvPr/>
        </p:nvSpPr>
        <p:spPr>
          <a:xfrm>
            <a:off x="676275" y="1585912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Support Vector Machine (SVM)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76275" y="2071687"/>
            <a:ext cx="52292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Selected for high-dimensional stability in text spaces where features (5,000) exceed samples (1,000).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025" y="1266825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973455" y="2844079"/>
            <a:ext cx="16764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1057275" y="2767012"/>
            <a:ext cx="50387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Constraint: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Maximize margin while minimizing misclassification of critical faults.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79646" y="3446805"/>
            <a:ext cx="45719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1042510" y="3402222"/>
            <a:ext cx="51244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Validation:</a:t>
            </a:r>
            <a:r>
              <a:rPr lang="en-US" sz="1300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5-Fold Stratified Cross Validation to ensure generalization.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990122" y="379124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1057275" y="3706039"/>
            <a:ext cx="4848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Optimization: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Exhaustive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GridSearchCV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across C [0.1, 1, 10, 100] and Kernels.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76275" y="6234112"/>
            <a:ext cx="2539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215282" y="6234112"/>
            <a:ext cx="2152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367635" y="6234112"/>
            <a:ext cx="224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7610177" y="6234112"/>
            <a:ext cx="390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76275" y="6715125"/>
            <a:ext cx="2539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215282" y="6715125"/>
            <a:ext cx="2152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367635" y="6715125"/>
            <a:ext cx="224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7610177" y="6715125"/>
            <a:ext cx="390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76275" y="7196137"/>
            <a:ext cx="2539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215282" y="7196137"/>
            <a:ext cx="2152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367635" y="7196137"/>
            <a:ext cx="22425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7610177" y="7196137"/>
            <a:ext cx="390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/>
        </p:nvSpPr>
        <p:spPr>
          <a:xfrm>
            <a:off x="866775" y="485775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&amp; QUANTITATIVE VALIDATION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76275" y="48577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76275" y="2050256"/>
            <a:ext cx="3606849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98.5%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76275" y="2955131"/>
            <a:ext cx="36068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292649" y="2050256"/>
            <a:ext cx="3606849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1.00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292649" y="2955131"/>
            <a:ext cx="36068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PRECISION (Q)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909024" y="2050256"/>
            <a:ext cx="3606849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0.99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909024" y="2955131"/>
            <a:ext cx="360684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ROC AUC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76275" y="3550443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Confusion Matrix Analysis</a:t>
            </a:r>
            <a:endParaRPr/>
          </a:p>
        </p:txBody>
      </p:sp>
      <p:graphicFrame>
        <p:nvGraphicFramePr>
          <p:cNvPr id="192" name="Google Shape;192;p17"/>
          <p:cNvGraphicFramePr/>
          <p:nvPr>
            <p:extLst>
              <p:ext uri="{D42A27DB-BD31-4B8C-83A1-F6EECF244321}">
                <p14:modId xmlns:p14="http://schemas.microsoft.com/office/powerpoint/2010/main" val="426258470"/>
              </p:ext>
            </p:extLst>
          </p:nvPr>
        </p:nvGraphicFramePr>
        <p:xfrm>
          <a:off x="676275" y="4036218"/>
          <a:ext cx="5229225" cy="1538275"/>
        </p:xfrm>
        <a:graphic>
          <a:graphicData uri="http://schemas.openxmlformats.org/drawingml/2006/table">
            <a:tbl>
              <a:tblPr firstRow="1" bandRow="1">
                <a:noFill/>
                <a:tableStyleId>{7286296E-9398-432D-9F17-2ECD0FF255FB}</a:tableStyleId>
              </a:tblPr>
              <a:tblGrid>
                <a:gridCol w="16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N=200 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 Quality.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 Non-quality.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 Quality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 Non-Quality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3" name="Google Shape;193;p17"/>
          <p:cNvSpPr txBox="1"/>
          <p:nvPr/>
        </p:nvSpPr>
        <p:spPr>
          <a:xfrm>
            <a:off x="6286500" y="3545681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Validation Metrics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562725" y="40671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667500" y="4069556"/>
            <a:ext cx="4848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5-Fold CV Mean: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97.8% (SD: 0.007).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562725" y="433863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6667500" y="4341018"/>
            <a:ext cx="48482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False Positives: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0. Achieving zero administrative-to-quality misclassification.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562725" y="48815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667500" y="4883943"/>
            <a:ext cx="48482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Generalization: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Learning curves show early convergence (~600 samples) with no overfitting.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676275" y="5064918"/>
            <a:ext cx="1695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2371873" y="5064918"/>
            <a:ext cx="1825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197846" y="5064918"/>
            <a:ext cx="17076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676275" y="5555456"/>
            <a:ext cx="1695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4197846" y="5555456"/>
            <a:ext cx="17076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Output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Confusion Matrix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540781" y="1254437"/>
            <a:ext cx="53244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Confusion Matrix reveals the model's precision.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6801107" y="1111727"/>
            <a:ext cx="4211440" cy="35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735090" y="1742217"/>
            <a:ext cx="53244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True Negatives (101): </a:t>
            </a:r>
            <a:r>
              <a:rPr lang="en-US" sz="165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Correctly identified all User Errors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735090" y="2148482"/>
            <a:ext cx="49434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False Positives (0):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Critical Win. The model never flagged a user error as a machine fault, saving unnecessary technician deployments.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731279" y="3367277"/>
            <a:ext cx="49434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False Negatives (3):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Only 3 genuine faults were missed.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D89098-E009-618A-5952-AC2DABD4D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46" y="446737"/>
            <a:ext cx="97544" cy="481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0775" y="2354759"/>
            <a:ext cx="5324475" cy="302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 Output</a:t>
            </a:r>
            <a:r>
              <a:rPr lang="en-US" sz="36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Learning Curve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3" name="Google Shape;203;p18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476250" y="1490851"/>
            <a:ext cx="5324475" cy="317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6391275" y="1517675"/>
            <a:ext cx="5590698" cy="23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Bias-Variance Tradeoff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334125" y="1853969"/>
            <a:ext cx="53244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Learning Curve demonstrates the model's robustness.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477000" y="2636139"/>
            <a:ext cx="48958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Convergence: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The Training Score (Red) and Cross-Validation Score (Green) converge at a high value (~0.98).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477000" y="3730049"/>
            <a:ext cx="48958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Interpretation: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The small gap between the lines indicates </a:t>
            </a: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low variance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(no overfitting). The high score indicates </a:t>
            </a: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low bias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(no underfitting).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4;p17">
            <a:extLst>
              <a:ext uri="{FF2B5EF4-FFF2-40B4-BE49-F238E27FC236}">
                <a16:creationId xmlns:a16="http://schemas.microsoft.com/office/drawing/2014/main" id="{C8D4AACA-D461-429A-A7D8-598D4AA86940}"/>
              </a:ext>
            </a:extLst>
          </p:cNvPr>
          <p:cNvSpPr/>
          <p:nvPr/>
        </p:nvSpPr>
        <p:spPr>
          <a:xfrm>
            <a:off x="476250" y="478616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Output</a:t>
            </a:r>
            <a:r>
              <a:rPr lang="en-US" sz="36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: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ROC &amp; Precision-Recall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560070" y="1506013"/>
            <a:ext cx="53244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117725" algn="l"/>
              </a:tabLst>
            </a:pPr>
            <a:r>
              <a:rPr lang="en-US" sz="1650" b="1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ROC AUC = 0.99:</a:t>
            </a:r>
            <a:r>
              <a:rPr lang="en-US" sz="1650" b="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 The Area Under the Curve is near perfect (1.0), meaning the model has excellent separability between Quality and Non-Quality issues.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560069" y="2841672"/>
            <a:ext cx="53244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 dirty="0"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Precision-Recall: The curve hugs the top-right corner, maintaining high precision (low false alarms) even at high recall (catching most faults).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723382" y="1633680"/>
            <a:ext cx="5324475" cy="19757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4;p17">
            <a:extLst>
              <a:ext uri="{FF2B5EF4-FFF2-40B4-BE49-F238E27FC236}">
                <a16:creationId xmlns:a16="http://schemas.microsoft.com/office/drawing/2014/main" id="{B655CE73-105A-FCCD-886C-557E1F0269B2}"/>
              </a:ext>
            </a:extLst>
          </p:cNvPr>
          <p:cNvSpPr/>
          <p:nvPr/>
        </p:nvSpPr>
        <p:spPr>
          <a:xfrm>
            <a:off x="428625" y="47278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4462462"/>
            <a:ext cx="108394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257300"/>
            <a:ext cx="3486150" cy="282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2925" y="1257300"/>
            <a:ext cx="3486150" cy="282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29575" y="1257300"/>
            <a:ext cx="3486150" cy="282416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866775" y="485775"/>
            <a:ext cx="1118139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DEEP DIVE: RESULTS DISCUSSION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76275" y="48577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1057275" y="4843462"/>
            <a:ext cx="105813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0B98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"Zero FP" Critical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1057275" y="5329237"/>
            <a:ext cx="100774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2E8F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By minimizing Administrative complaints being routed to Engineers, we reduce "Alert Fatigue" and save an estimated 24 engineering man-hours per month per plant. This deterministic reliability is why SVM was selected over more probabilistic deep learning models</a:t>
            </a:r>
            <a:r>
              <a:rPr lang="en-US" sz="1500" b="0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18" name="Google Shape;218;p18"/>
          <p:cNvSpPr txBox="1"/>
          <p:nvPr/>
        </p:nvSpPr>
        <p:spPr>
          <a:xfrm>
            <a:off x="923925" y="1504950"/>
            <a:ext cx="314039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Precision as Priority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23925" y="1990725"/>
            <a:ext cx="2990850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Industrial stakeholders prioritize 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zero false alarms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 Our 1.0 precision for Quality issues ensures that every engineering alert is highly credible.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4600575" y="1504950"/>
            <a:ext cx="314039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Managed Recall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4600575" y="1990725"/>
            <a:ext cx="2990850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2% False Negative rate (2 samples) used ambiguous language. Strategy: Route "Low Confidence" scores to a manual buffer for safety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22" name="Google Shape;222;p18"/>
          <p:cNvSpPr txBox="1"/>
          <p:nvPr/>
        </p:nvSpPr>
        <p:spPr>
          <a:xfrm>
            <a:off x="8277225" y="1504950"/>
            <a:ext cx="314039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Feature Interpretability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8277225" y="1950244"/>
            <a:ext cx="29908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Keyword weights (TF-IDF coefficients) align with domain expertise: "fail", "hazard", and "defect" dominated the Quality decision boundary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57300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4705718"/>
            <a:ext cx="348615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0546" y="4710798"/>
            <a:ext cx="348615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6725" y="4685918"/>
            <a:ext cx="3486150" cy="190976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866775" y="485775"/>
            <a:ext cx="1118139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DISCUSSION: TRADE-OFFS &amp; OPERATIONAL IMPACT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76275" y="48577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676275" y="1712118"/>
            <a:ext cx="549068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SVM vs. Deep Learning (BERT)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76275" y="2197893"/>
            <a:ext cx="52292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Critical analysis of model architectural choice for industrial constraints: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7" name="Google Shape;23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6025" y="1266825"/>
            <a:ext cx="5339239" cy="329501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/>
        </p:nvSpPr>
        <p:spPr>
          <a:xfrm>
            <a:off x="849154" y="4960144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ROI Summary</a:t>
            </a:r>
            <a:endParaRPr dirty="0"/>
          </a:p>
        </p:txBody>
      </p:sp>
      <p:sp>
        <p:nvSpPr>
          <p:cNvPr id="239" name="Google Shape;239;p19"/>
          <p:cNvSpPr txBox="1"/>
          <p:nvPr/>
        </p:nvSpPr>
        <p:spPr>
          <a:xfrm>
            <a:off x="849154" y="5470523"/>
            <a:ext cx="29908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Est. 75% cost reduction in initial triage phase within the first 6 months.</a:t>
            </a:r>
            <a:endParaRPr dirty="0"/>
          </a:p>
        </p:txBody>
      </p:sp>
      <p:sp>
        <p:nvSpPr>
          <p:cNvPr id="240" name="Google Shape;240;p19"/>
          <p:cNvSpPr txBox="1"/>
          <p:nvPr/>
        </p:nvSpPr>
        <p:spPr>
          <a:xfrm>
            <a:off x="4596765" y="4950475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Deployment Logic</a:t>
            </a:r>
            <a:endParaRPr dirty="0"/>
          </a:p>
        </p:txBody>
      </p:sp>
      <p:sp>
        <p:nvSpPr>
          <p:cNvPr id="241" name="Google Shape;241;p19"/>
          <p:cNvSpPr txBox="1"/>
          <p:nvPr/>
        </p:nvSpPr>
        <p:spPr>
          <a:xfrm>
            <a:off x="4618196" y="5459571"/>
            <a:ext cx="29908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webapp + Serialized .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pkl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files ensure cross-platform availability.</a:t>
            </a:r>
            <a:endParaRPr dirty="0"/>
          </a:p>
        </p:txBody>
      </p:sp>
      <p:sp>
        <p:nvSpPr>
          <p:cNvPr id="242" name="Google Shape;242;p19"/>
          <p:cNvSpPr txBox="1"/>
          <p:nvPr/>
        </p:nvSpPr>
        <p:spPr>
          <a:xfrm>
            <a:off x="8432483" y="4960144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Technical Debt</a:t>
            </a:r>
            <a:endParaRPr dirty="0"/>
          </a:p>
        </p:txBody>
      </p:sp>
      <p:sp>
        <p:nvSpPr>
          <p:cNvPr id="243" name="Google Shape;243;p19"/>
          <p:cNvSpPr txBox="1"/>
          <p:nvPr/>
        </p:nvSpPr>
        <p:spPr>
          <a:xfrm>
            <a:off x="8432483" y="5399879"/>
            <a:ext cx="29908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Minimal overhead; TF-IDF/SVM requires low compute power, suitable for edge legacy servers.</a:t>
            </a:r>
            <a:endParaRPr dirty="0"/>
          </a:p>
        </p:txBody>
      </p:sp>
      <p:sp>
        <p:nvSpPr>
          <p:cNvPr id="244" name="Google Shape;244;p19"/>
          <p:cNvSpPr txBox="1"/>
          <p:nvPr/>
        </p:nvSpPr>
        <p:spPr>
          <a:xfrm>
            <a:off x="685800" y="273374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5" name="Google Shape;245;p19"/>
          <p:cNvSpPr txBox="1"/>
          <p:nvPr/>
        </p:nvSpPr>
        <p:spPr>
          <a:xfrm>
            <a:off x="771525" y="2643231"/>
            <a:ext cx="5395436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Sample Efficiency: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BERT requires 10k+ samples; SVM generalizes at 1k.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671513" y="333104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7" name="Google Shape;247;p19"/>
          <p:cNvSpPr txBox="1"/>
          <p:nvPr/>
        </p:nvSpPr>
        <p:spPr>
          <a:xfrm>
            <a:off x="785813" y="3285847"/>
            <a:ext cx="48482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Latency: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SVM inference &lt; 5ms vs BERT ~200ms+.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665798" y="375216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9" name="Google Shape;249;p19"/>
          <p:cNvSpPr txBox="1"/>
          <p:nvPr/>
        </p:nvSpPr>
        <p:spPr>
          <a:xfrm>
            <a:off x="790575" y="3698221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Complexity: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Deterministic SVM is easier to audit for industrial compliance than "black-box" Transformers.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4491037"/>
            <a:ext cx="108394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897255" y="728662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CRITICAL ANALYSIS &amp; ROADMAP</a:t>
            </a:r>
            <a:endParaRPr dirty="0"/>
          </a:p>
        </p:txBody>
      </p:sp>
      <p:sp>
        <p:nvSpPr>
          <p:cNvPr id="257" name="Google Shape;257;p20"/>
          <p:cNvSpPr/>
          <p:nvPr/>
        </p:nvSpPr>
        <p:spPr>
          <a:xfrm>
            <a:off x="676275" y="652485"/>
            <a:ext cx="952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676275" y="4691062"/>
            <a:ext cx="10839450" cy="104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Key References (IEEE Style):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[1] J. Smith, "Support Vector Machines in Industrial NLP," </a:t>
            </a:r>
            <a:r>
              <a:rPr lang="en-US" sz="1425" b="0" i="1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IEEE Trans. Ind. Inf.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2023.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[2] A. Doe, "TF-IDF Optimization for Sparse Text Classification," </a:t>
            </a:r>
            <a:r>
              <a:rPr lang="en-US" sz="1425" b="0" i="1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Industrial AI Review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2022.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[3] Scikit-Learn Documentation: Linear SVC and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GridSearchCV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Module [Online].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771525" y="1771649"/>
            <a:ext cx="549068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Risk &amp; Limitations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71500" y="227679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61" name="Google Shape;261;p20"/>
          <p:cNvSpPr txBox="1"/>
          <p:nvPr/>
        </p:nvSpPr>
        <p:spPr>
          <a:xfrm>
            <a:off x="676275" y="2224087"/>
            <a:ext cx="52292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Sarcastic text remains a challenge for static SVM.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2" name="Google Shape;262;p20"/>
          <p:cNvGraphicFramePr/>
          <p:nvPr>
            <p:extLst>
              <p:ext uri="{D42A27DB-BD31-4B8C-83A1-F6EECF244321}">
                <p14:modId xmlns:p14="http://schemas.microsoft.com/office/powerpoint/2010/main" val="1599672108"/>
              </p:ext>
            </p:extLst>
          </p:nvPr>
        </p:nvGraphicFramePr>
        <p:xfrm>
          <a:off x="676275" y="2590800"/>
          <a:ext cx="5229200" cy="1519225"/>
        </p:xfrm>
        <a:graphic>
          <a:graphicData uri="http://schemas.openxmlformats.org/drawingml/2006/table">
            <a:tbl>
              <a:tblPr firstRow="1" bandRow="1">
                <a:noFill/>
                <a:tableStyleId>{7286296E-9398-432D-9F17-2ECD0FF255FB}</a:tableStyleId>
              </a:tblPr>
              <a:tblGrid>
                <a:gridCol w="12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Severity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Mitigation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Concept Drift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High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Bi-annual re-training on new data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Out-of-Vocab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Med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ea typeface="Lato"/>
                          <a:cs typeface="Times New Roman" panose="02020603050405020304" pitchFamily="18" charset="0"/>
                          <a:sym typeface="Lato"/>
                        </a:rPr>
                        <a:t>Dynamic TF-IDF dictionary updates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3" name="Google Shape;263;p20"/>
          <p:cNvSpPr txBox="1"/>
          <p:nvPr/>
        </p:nvSpPr>
        <p:spPr>
          <a:xfrm>
            <a:off x="6286500" y="1771650"/>
            <a:ext cx="549068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E293B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Future Enhancements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6195537" y="2343097"/>
            <a:ext cx="45719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65" name="Google Shape;265;p20"/>
          <p:cNvSpPr txBox="1"/>
          <p:nvPr/>
        </p:nvSpPr>
        <p:spPr>
          <a:xfrm>
            <a:off x="6286500" y="2261081"/>
            <a:ext cx="53340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Active Learning: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System flags low-confidence cases for expert labeling.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6209823" y="287274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67" name="Google Shape;267;p20"/>
          <p:cNvSpPr txBox="1"/>
          <p:nvPr/>
        </p:nvSpPr>
        <p:spPr>
          <a:xfrm>
            <a:off x="6314598" y="2847515"/>
            <a:ext cx="5062062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Multi-Class: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Move to sub-fault classification (Mechanical vs. Electrical).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6241256" y="351472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69" name="Google Shape;269;p20"/>
          <p:cNvSpPr txBox="1"/>
          <p:nvPr/>
        </p:nvSpPr>
        <p:spPr>
          <a:xfrm>
            <a:off x="6374129" y="3466821"/>
            <a:ext cx="5141596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LLM-Augmentation: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Use GPT-4 for synthetic data generation to bolster minority fault classes.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76275" y="3614737"/>
            <a:ext cx="1285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1961554" y="3614737"/>
            <a:ext cx="1090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052167" y="3614737"/>
            <a:ext cx="2853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76275" y="4095750"/>
            <a:ext cx="1285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1961554" y="4095750"/>
            <a:ext cx="10906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052167" y="4095750"/>
            <a:ext cx="2853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B1C2-11B1-09F8-0F82-DC228247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2" y="1720645"/>
            <a:ext cx="10408428" cy="2310581"/>
          </a:xfrm>
        </p:spPr>
        <p:txBody>
          <a:bodyPr>
            <a:normAutofit/>
          </a:bodyPr>
          <a:lstStyle/>
          <a:p>
            <a:r>
              <a:rPr lang="en-IN" sz="7200" dirty="0">
                <a:solidFill>
                  <a:srgbClr val="FF0000"/>
                </a:solidFill>
                <a:latin typeface="Trebuchet MS" panose="020B0603020202020204" pitchFamily="34" charset="0"/>
              </a:rPr>
              <a:t>			THANK YOU</a:t>
            </a:r>
          </a:p>
        </p:txBody>
      </p:sp>
    </p:spTree>
    <p:extLst>
      <p:ext uri="{BB962C8B-B14F-4D97-AF65-F5344CB8AC3E}">
        <p14:creationId xmlns:p14="http://schemas.microsoft.com/office/powerpoint/2010/main" val="17558296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1041</Words>
  <Application>Microsoft Office PowerPoint</Application>
  <PresentationFormat>Widescreen</PresentationFormat>
  <Paragraphs>156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Arial</vt:lpstr>
      <vt:lpstr>Lato</vt:lpstr>
      <vt:lpstr>Poppins SemiBold</vt:lpstr>
      <vt:lpstr>Calibri Light</vt:lpstr>
      <vt:lpstr>Trebuchet MS</vt:lpstr>
      <vt:lpstr>Times New Roman</vt:lpstr>
      <vt:lpstr>Poppins</vt:lpstr>
      <vt:lpstr>Retrospect</vt:lpstr>
      <vt:lpstr>Towards Better Product Quality: Identifying Legitimate Quality Issues using NLP &amp;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Anirudh K</dc:creator>
  <cp:lastModifiedBy>Sandra Nidheesh</cp:lastModifiedBy>
  <cp:revision>7</cp:revision>
  <dcterms:modified xsi:type="dcterms:W3CDTF">2026-01-18T21:24:25Z</dcterms:modified>
</cp:coreProperties>
</file>